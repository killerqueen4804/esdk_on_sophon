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10.svg" ContentType="image/svg+xml"/>
  <Override PartName="/ppt/media/image14.svg" ContentType="image/svg+xml"/>
  <Override PartName="/ppt/media/image15.svg" ContentType="image/svg+xml"/>
  <Override PartName="/ppt/media/image3.svg" ContentType="image/svg+xml"/>
  <Override PartName="/ppt/media/image5.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61" r:id="rId6"/>
    <p:sldId id="258" r:id="rId7"/>
    <p:sldId id="259" r:id="rId8"/>
    <p:sldId id="262" r:id="rId9"/>
    <p:sldId id="267" r:id="rId10"/>
    <p:sldId id="268" r:id="rId11"/>
    <p:sldId id="260" r:id="rId12"/>
    <p:sldId id="263" r:id="rId13"/>
    <p:sldId id="264" r:id="rId14"/>
    <p:sldId id="266" r:id="rId15"/>
    <p:sldId id="265" r:id="rId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79883" initials="7" lastIdx="0" clrIdx="0"/>
  <p:cmAuthor id="2" name="作者" initials="A" lastIdx="0" clrIdx="1"/>
  <p:cmAuthor id="3" name="xinfa" initials="x" lastIdx="0" clrIdx="2"/>
  <p:cmAuthor id="4" name="rogers steve" initials="rs" lastIdx="0" clrIdx="3"/>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commentAuthors" Target="commentAuthors.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这个端侧盒子的项目就是关于平台算法中的目标检测和视频流分析，现在主要就是视频流分析了，先讲一下他大致是什么</a:t>
            </a:r>
            <a:r>
              <a:rPr lang="zh-CN" altLang="en-US"/>
              <a:t>流程</a:t>
            </a:r>
            <a:endParaRPr lang="zh-CN" altLang="en-US"/>
          </a:p>
          <a:p>
            <a:endParaRPr lang="zh-CN" altLang="en-US"/>
          </a:p>
          <a:p>
            <a:r>
              <a:rPr lang="zh-CN" altLang="en-US"/>
              <a:t>盒子首先启动程序。以目标检测任务为例，平台下发航线任务，无人机起飞，后端会给程序发一个算法启用的</a:t>
            </a:r>
            <a:r>
              <a:rPr lang="en-US" altLang="zh-CN"/>
              <a:t>mqtt</a:t>
            </a:r>
            <a:r>
              <a:rPr lang="zh-CN" altLang="en-US"/>
              <a:t>消息，之后程序就会开始监听机场的状态，当无人机执行完航线返回机场，开始进行数据传输，这时机场状态变化，因为无人机给他传回了图片，程序就开始拉取图片进行分析，分析完之后就会以</a:t>
            </a:r>
            <a:r>
              <a:rPr lang="en-US" altLang="zh-CN"/>
              <a:t>mqtt</a:t>
            </a:r>
            <a:r>
              <a:rPr lang="zh-CN" altLang="en-US"/>
              <a:t>的形式给后端推送事件，之后平台就能看到检测出的事件</a:t>
            </a:r>
            <a:r>
              <a:rPr lang="zh-CN" altLang="en-US"/>
              <a:t>了</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具体的流程有了，我们就看看具体的代码是怎么样的。先看一下代码结构，重点就是</a:t>
            </a:r>
            <a:r>
              <a:rPr lang="en-US" altLang="zh-CN"/>
              <a:t>src</a:t>
            </a:r>
            <a:r>
              <a:rPr lang="zh-CN" altLang="en-US"/>
              <a:t>，其中</a:t>
            </a:r>
            <a:r>
              <a:rPr lang="en-US" altLang="zh-CN"/>
              <a:t>core</a:t>
            </a:r>
            <a:r>
              <a:rPr lang="zh-CN" altLang="en-US"/>
              <a:t>目录主要是</a:t>
            </a:r>
            <a:r>
              <a:rPr lang="en-US" altLang="zh-CN"/>
              <a:t>config</a:t>
            </a:r>
            <a:r>
              <a:rPr lang="zh-CN" altLang="en-US"/>
              <a:t>和</a:t>
            </a:r>
            <a:r>
              <a:rPr lang="en-US" altLang="zh-CN"/>
              <a:t>log</a:t>
            </a:r>
            <a:r>
              <a:rPr lang="zh-CN" altLang="en-US"/>
              <a:t>，</a:t>
            </a:r>
            <a:r>
              <a:rPr lang="en-US" altLang="zh-CN"/>
              <a:t>Mqtt</a:t>
            </a:r>
            <a:r>
              <a:rPr lang="zh-CN" altLang="en-US"/>
              <a:t>主要是</a:t>
            </a:r>
            <a:r>
              <a:rPr lang="en-US" altLang="zh-CN">
                <a:sym typeface="+mn-ea"/>
              </a:rPr>
              <a:t>MqttClient</a:t>
            </a:r>
            <a:r>
              <a:rPr lang="zh-CN" altLang="en-US">
                <a:sym typeface="+mn-ea"/>
              </a:rPr>
              <a:t>和</a:t>
            </a:r>
            <a:r>
              <a:rPr lang="en-US" altLang="zh-CN">
                <a:sym typeface="+mn-ea"/>
              </a:rPr>
              <a:t>MqttHandler</a:t>
            </a:r>
            <a:r>
              <a:rPr lang="zh-CN" altLang="en-US">
                <a:sym typeface="+mn-ea"/>
              </a:rPr>
              <a:t>，</a:t>
            </a:r>
            <a:r>
              <a:rPr lang="en-US" altLang="zh-CN">
                <a:sym typeface="+mn-ea"/>
              </a:rPr>
              <a:t>MqttHandler</a:t>
            </a:r>
            <a:r>
              <a:rPr lang="zh-CN" altLang="en-US">
                <a:sym typeface="+mn-ea"/>
              </a:rPr>
              <a:t>主要负责指令解析、</a:t>
            </a:r>
            <a:r>
              <a:rPr lang="zh-CN" altLang="en-US">
                <a:sym typeface="+mn-ea"/>
              </a:rPr>
              <a:t>指令路由、业务调用、应答发送、结果上报，其实有点像后端项目中的</a:t>
            </a:r>
            <a:r>
              <a:rPr lang="en-US" altLang="zh-CN">
                <a:sym typeface="+mn-ea"/>
              </a:rPr>
              <a:t>controller</a:t>
            </a:r>
            <a:r>
              <a:rPr lang="zh-CN" altLang="en-US">
                <a:sym typeface="+mn-ea"/>
              </a:rPr>
              <a:t>。</a:t>
            </a:r>
            <a:r>
              <a:rPr lang="en-US" altLang="zh-CN">
                <a:sym typeface="+mn-ea"/>
              </a:rPr>
              <a:t>MqttClient</a:t>
            </a:r>
            <a:r>
              <a:rPr lang="zh-CN" altLang="en-US">
                <a:sym typeface="+mn-ea"/>
              </a:rPr>
              <a:t>负责</a:t>
            </a:r>
            <a:r>
              <a:rPr lang="en-US" altLang="zh-CN">
                <a:sym typeface="+mn-ea"/>
              </a:rPr>
              <a:t>mqtt</a:t>
            </a:r>
            <a:r>
              <a:rPr lang="zh-CN" altLang="en-US">
                <a:sym typeface="+mn-ea"/>
              </a:rPr>
              <a:t>连接、发布、订阅功能。</a:t>
            </a:r>
            <a:r>
              <a:rPr lang="en-US" altLang="zh-CN">
                <a:sym typeface="+mn-ea"/>
              </a:rPr>
              <a:t>rtmp</a:t>
            </a:r>
            <a:r>
              <a:rPr lang="zh-CN" altLang="en-US">
                <a:sym typeface="+mn-ea"/>
              </a:rPr>
              <a:t>主要就是负责视频实时推流功能。</a:t>
            </a:r>
            <a:r>
              <a:rPr lang="en-US" altLang="zh-CN">
                <a:sym typeface="+mn-ea"/>
              </a:rPr>
              <a:t>task</a:t>
            </a:r>
            <a:r>
              <a:rPr lang="zh-CN" altLang="en-US">
                <a:sym typeface="+mn-ea"/>
              </a:rPr>
              <a:t>负责的就是视频流和媒体文件分析任务，</a:t>
            </a:r>
            <a:r>
              <a:rPr lang="en-US" altLang="zh-CN">
                <a:sym typeface="+mn-ea"/>
              </a:rPr>
              <a:t>TaskManager</a:t>
            </a:r>
            <a:r>
              <a:rPr lang="zh-CN" altLang="en-US">
                <a:sym typeface="+mn-ea"/>
              </a:rPr>
              <a:t>负责的任务的创建、开始、停止，</a:t>
            </a:r>
            <a:r>
              <a:rPr lang="en-US" altLang="zh-CN">
                <a:sym typeface="+mn-ea"/>
              </a:rPr>
              <a:t>TaskService</a:t>
            </a:r>
            <a:r>
              <a:rPr lang="zh-CN" altLang="en-US">
                <a:sym typeface="+mn-ea"/>
              </a:rPr>
              <a:t>负责的则是具体的业务逻辑了。</a:t>
            </a:r>
            <a:r>
              <a:rPr lang="en-US" altLang="zh-CN">
                <a:sym typeface="+mn-ea"/>
              </a:rPr>
              <a:t>vision</a:t>
            </a:r>
            <a:r>
              <a:rPr lang="zh-CN" altLang="en-US">
                <a:sym typeface="+mn-ea"/>
              </a:rPr>
              <a:t>模块是各种视觉算法，现在是只有检测和</a:t>
            </a:r>
            <a:r>
              <a:rPr lang="zh-CN" altLang="en-US">
                <a:sym typeface="+mn-ea"/>
              </a:rPr>
              <a:t>分割。</a:t>
            </a:r>
            <a:endParaRPr lang="zh-CN" altLang="en-US">
              <a:sym typeface="+mn-ea"/>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具体的流程有了，我们就看看</a:t>
            </a:r>
            <a:r>
              <a:rPr lang="zh-CN" altLang="en-US"/>
              <a:t>初始化。我们先看</a:t>
            </a:r>
            <a:r>
              <a:rPr lang="en-US" altLang="zh-CN"/>
              <a:t>main</a:t>
            </a:r>
            <a:r>
              <a:rPr lang="zh-CN" altLang="en-US"/>
              <a:t>文件，先实例化一个</a:t>
            </a:r>
            <a:r>
              <a:rPr lang="en-US" altLang="zh-CN"/>
              <a:t>Application</a:t>
            </a:r>
            <a:r>
              <a:rPr lang="zh-CN" altLang="en-US"/>
              <a:t>对象，</a:t>
            </a:r>
            <a:r>
              <a:rPr lang="en-US" altLang="zh-CN"/>
              <a:t>Application</a:t>
            </a:r>
            <a:r>
              <a:rPr lang="zh-CN" altLang="en-US"/>
              <a:t>的构造函数就会把这些类全都实例化一遍，这样我们就得到了所有模块的</a:t>
            </a:r>
            <a:r>
              <a:rPr lang="zh-CN" altLang="en-US"/>
              <a:t>实例。</a:t>
            </a:r>
            <a:endParaRPr lang="zh-CN" altLang="en-US"/>
          </a:p>
          <a:p>
            <a:r>
              <a:rPr lang="zh-CN" altLang="en-US"/>
              <a:t>之后就是初始化</a:t>
            </a:r>
            <a:r>
              <a:rPr lang="en-US" altLang="zh-CN"/>
              <a:t>ESDK</a:t>
            </a:r>
            <a:r>
              <a:rPr lang="zh-CN" altLang="en-US"/>
              <a:t>、加载配置、</a:t>
            </a:r>
            <a:r>
              <a:rPr lang="en-US" altLang="zh-CN"/>
              <a:t>mqttClient_</a:t>
            </a:r>
            <a:r>
              <a:rPr lang="zh-CN" altLang="en-US"/>
              <a:t>初始化，我们来看一下</a:t>
            </a:r>
            <a:r>
              <a:rPr lang="en-US" altLang="zh-CN"/>
              <a:t>mqttClient_</a:t>
            </a:r>
            <a:r>
              <a:rPr lang="zh-CN" altLang="en-US"/>
              <a:t>初始化干了什么事情，这个</a:t>
            </a:r>
            <a:r>
              <a:rPr lang="en-US" altLang="zh-CN"/>
              <a:t>pImpl_</a:t>
            </a:r>
            <a:r>
              <a:rPr lang="zh-CN" altLang="en-US"/>
              <a:t>是一种优化方式，可以先不细看，因为细的我也不会，作用就是程序编译速度会加快。先是从配置中加载</a:t>
            </a:r>
            <a:r>
              <a:rPr lang="en-US" altLang="zh-CN"/>
              <a:t>mqtt</a:t>
            </a:r>
            <a:r>
              <a:rPr lang="zh-CN" altLang="en-US"/>
              <a:t>链接，创建</a:t>
            </a:r>
            <a:r>
              <a:rPr lang="en-US" altLang="zh-CN"/>
              <a:t>mqtt</a:t>
            </a:r>
            <a:r>
              <a:rPr lang="zh-CN" altLang="en-US"/>
              <a:t>客户端，然后就是链接客户端，上面的都是一些防错和配置，链接完成之后通知连接成功，这个</a:t>
            </a:r>
            <a:r>
              <a:rPr lang="zh-CN" altLang="en-US"/>
              <a:t>等会说。</a:t>
            </a:r>
            <a:endParaRPr lang="zh-CN" altLang="en-US"/>
          </a:p>
          <a:p>
            <a:endParaRPr lang="zh-CN" altLang="en-US"/>
          </a:p>
          <a:p>
            <a:r>
              <a:rPr lang="zh-CN" altLang="en-US"/>
              <a:t>之后再进行</a:t>
            </a:r>
            <a:r>
              <a:rPr lang="en-US" altLang="zh-CN"/>
              <a:t>taskmanager</a:t>
            </a:r>
            <a:r>
              <a:rPr lang="zh-CN" altLang="en-US"/>
              <a:t>的初始化，引入</a:t>
            </a:r>
            <a:r>
              <a:rPr lang="en-US" altLang="zh-CN"/>
              <a:t>mqttClient</a:t>
            </a:r>
            <a:r>
              <a:rPr lang="zh-CN" altLang="en-US"/>
              <a:t>方便之后使用。之后再初始化</a:t>
            </a:r>
            <a:r>
              <a:rPr lang="en-US" altLang="zh-CN"/>
              <a:t>mqttHandler_</a:t>
            </a:r>
            <a:r>
              <a:rPr lang="zh-CN" altLang="en-US"/>
              <a:t>，</a:t>
            </a:r>
            <a:r>
              <a:rPr lang="en-US" altLang="zh-CN"/>
              <a:t>mqttHandler_</a:t>
            </a:r>
            <a:r>
              <a:rPr lang="zh-CN" altLang="en-US"/>
              <a:t>的初始化其实</a:t>
            </a:r>
            <a:r>
              <a:rPr lang="zh-CN" altLang="en-US"/>
              <a:t>就干了一件事情：让每一个消息，都有对应的函数来响应，比如算法同步会有</a:t>
            </a:r>
            <a:r>
              <a:rPr lang="en-US" altLang="zh-CN"/>
              <a:t>handleAlgorithmSync</a:t>
            </a:r>
            <a:r>
              <a:rPr lang="zh-CN" altLang="en-US"/>
              <a:t>，启用算法就有</a:t>
            </a:r>
            <a:r>
              <a:rPr lang="en-US" altLang="zh-CN"/>
              <a:t>handleAlgorithmEnable</a:t>
            </a:r>
            <a:r>
              <a:rPr lang="zh-CN" altLang="en-US"/>
              <a:t>等等。</a:t>
            </a:r>
            <a:br>
              <a:rPr lang="zh-CN" altLang="en-US"/>
            </a:br>
            <a:r>
              <a:rPr lang="zh-CN" altLang="en-US"/>
              <a:t>之后启动</a:t>
            </a:r>
            <a:r>
              <a:rPr lang="en-US" altLang="zh-CN">
                <a:sym typeface="+mn-ea"/>
              </a:rPr>
              <a:t>mqttHandler_</a:t>
            </a:r>
            <a:r>
              <a:rPr lang="zh-CN" altLang="en-US">
                <a:sym typeface="+mn-ea"/>
              </a:rPr>
              <a:t>，其实就干了两件事情，第一个是让</a:t>
            </a:r>
            <a:r>
              <a:rPr lang="en-US" altLang="zh-CN">
                <a:sym typeface="+mn-ea"/>
              </a:rPr>
              <a:t>mqttHandler</a:t>
            </a:r>
            <a:r>
              <a:rPr lang="zh-CN" altLang="en-US">
                <a:sym typeface="+mn-ea"/>
              </a:rPr>
              <a:t>成为</a:t>
            </a:r>
            <a:r>
              <a:rPr lang="en-US" altLang="zh-CN">
                <a:sym typeface="+mn-ea"/>
              </a:rPr>
              <a:t>mqttClient_</a:t>
            </a:r>
            <a:r>
              <a:rPr lang="zh-CN" altLang="en-US">
                <a:sym typeface="+mn-ea"/>
              </a:rPr>
              <a:t>的观察者，第二个就是订阅</a:t>
            </a:r>
            <a:r>
              <a:rPr lang="en-US" altLang="zh-CN">
                <a:sym typeface="+mn-ea"/>
              </a:rPr>
              <a:t>thing/product/{device_sn}/services,</a:t>
            </a:r>
            <a:r>
              <a:rPr lang="zh-CN" altLang="en-US">
                <a:sym typeface="+mn-ea"/>
              </a:rPr>
              <a:t>只有订阅</a:t>
            </a:r>
            <a:r>
              <a:rPr lang="en-US" altLang="zh-CN">
                <a:sym typeface="+mn-ea"/>
              </a:rPr>
              <a:t>topic</a:t>
            </a:r>
            <a:r>
              <a:rPr lang="zh-CN" altLang="en-US">
                <a:sym typeface="+mn-ea"/>
              </a:rPr>
              <a:t>之后我们才能接收该</a:t>
            </a:r>
            <a:r>
              <a:rPr lang="en-US" altLang="zh-CN">
                <a:sym typeface="+mn-ea"/>
              </a:rPr>
              <a:t>topic</a:t>
            </a:r>
            <a:r>
              <a:rPr lang="zh-CN" altLang="en-US">
                <a:sym typeface="+mn-ea"/>
              </a:rPr>
              <a:t>发送的消息。注册信号处理函数呢也就是程序会对</a:t>
            </a:r>
            <a:r>
              <a:rPr lang="en-US" altLang="zh-CN">
                <a:sym typeface="+mn-ea"/>
              </a:rPr>
              <a:t>Ctrl+C</a:t>
            </a:r>
            <a:r>
              <a:rPr lang="zh-CN" altLang="en-US">
                <a:sym typeface="+mn-ea"/>
              </a:rPr>
              <a:t>和</a:t>
            </a:r>
            <a:r>
              <a:rPr lang="en-US" altLang="zh-CN">
                <a:sym typeface="+mn-ea"/>
              </a:rPr>
              <a:t>kill</a:t>
            </a:r>
            <a:r>
              <a:rPr lang="zh-CN" altLang="en-US">
                <a:sym typeface="+mn-ea"/>
              </a:rPr>
              <a:t>命令作出反应，会去结束线程和</a:t>
            </a:r>
            <a:r>
              <a:rPr lang="zh-CN" altLang="en-US">
                <a:sym typeface="+mn-ea"/>
              </a:rPr>
              <a:t>释放内存。</a:t>
            </a:r>
            <a:br>
              <a:rPr lang="zh-CN" altLang="en-US">
                <a:sym typeface="+mn-ea"/>
              </a:rPr>
            </a:br>
            <a:endParaRPr lang="zh-CN" altLang="en-US">
              <a:sym typeface="+mn-ea"/>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初始化都做好了，该程序就可以真正的运行了，运行就是让该一直循环等待接收消息。</a:t>
            </a:r>
            <a:br>
              <a:rPr lang="zh-CN" altLang="en-US">
                <a:sym typeface="+mn-ea"/>
              </a:rPr>
            </a:br>
            <a:br>
              <a:rPr lang="zh-CN" altLang="en-US">
                <a:sym typeface="+mn-ea"/>
              </a:rPr>
            </a:br>
            <a:r>
              <a:rPr lang="zh-CN" altLang="en-US">
                <a:sym typeface="+mn-ea"/>
              </a:rPr>
              <a:t>下面就是最核心的数据处理流程了，弄懂一个程序主要的就是看他数据是如何流通的，将数据作为线索一步步的顺藤摸瓜，基本就可以看个大差不差了，当然我也是做这个视频的时候</a:t>
            </a:r>
            <a:r>
              <a:rPr lang="zh-CN" altLang="en-US">
                <a:sym typeface="+mn-ea"/>
              </a:rPr>
              <a:t>才悟出来的。</a:t>
            </a:r>
            <a:br>
              <a:rPr lang="zh-CN" altLang="en-US">
                <a:sym typeface="+mn-ea"/>
              </a:rPr>
            </a:br>
            <a:endParaRPr lang="zh-CN" altLang="en-US">
              <a:sym typeface="+mn-ea"/>
            </a:endParaRPr>
          </a:p>
          <a:p>
            <a:pPr indent="457200"/>
            <a:r>
              <a:rPr lang="zh-CN" altLang="en-US">
                <a:sym typeface="+mn-ea"/>
              </a:rPr>
              <a:t>首先考虑一个问题，一般我们写一个简单的程序，我们会定义好输入，启动后程序会一直卡在</a:t>
            </a:r>
            <a:r>
              <a:rPr lang="en-US" altLang="zh-CN">
                <a:sym typeface="+mn-ea"/>
              </a:rPr>
              <a:t>cin&gt;&gt;a&gt;&gt;b</a:t>
            </a:r>
            <a:r>
              <a:rPr lang="zh-CN" altLang="en-US">
                <a:sym typeface="+mn-ea"/>
              </a:rPr>
              <a:t>这里等待我们输入，我们输入完之后程序会接着往下走。但是我们开发项目时真的可以让程序卡在某个地方等待输入吗？我们的输入只有一种格式吗？显然不会，刚才我们的程序也是做完初始化之后就可以进入事件循环了，进入事件循环说白了就是让程序一直处于工作状态，不让程序死掉。那我们该如何在接收到消息之后对消息作出反应呢？答案就是回调函数，回调函数我是这么理解的，当事情</a:t>
            </a:r>
            <a:r>
              <a:rPr lang="en-US" altLang="zh-CN">
                <a:sym typeface="+mn-ea"/>
              </a:rPr>
              <a:t>A</a:t>
            </a:r>
            <a:r>
              <a:rPr lang="zh-CN" altLang="en-US">
                <a:sym typeface="+mn-ea"/>
              </a:rPr>
              <a:t>发生后就去做事情</a:t>
            </a:r>
            <a:r>
              <a:rPr lang="en-US" altLang="zh-CN">
                <a:sym typeface="+mn-ea"/>
              </a:rPr>
              <a:t>B</a:t>
            </a:r>
            <a:r>
              <a:rPr lang="zh-CN" altLang="en-US">
                <a:sym typeface="+mn-ea"/>
              </a:rPr>
              <a:t>，事情</a:t>
            </a:r>
            <a:r>
              <a:rPr lang="en-US" altLang="zh-CN">
                <a:sym typeface="+mn-ea"/>
              </a:rPr>
              <a:t>B</a:t>
            </a:r>
            <a:r>
              <a:rPr lang="zh-CN" altLang="en-US">
                <a:sym typeface="+mn-ea"/>
              </a:rPr>
              <a:t>就是回调函数，当我们饿了就要吃饭，电话响了就接电话等等，刚才</a:t>
            </a:r>
            <a:r>
              <a:rPr lang="en-US" altLang="zh-CN">
                <a:sym typeface="+mn-ea"/>
              </a:rPr>
              <a:t>MqttClient</a:t>
            </a:r>
            <a:r>
              <a:rPr lang="zh-CN" altLang="en-US">
                <a:sym typeface="+mn-ea"/>
              </a:rPr>
              <a:t>初始化中是不是有一步设置回调函数，我们首先关注</a:t>
            </a:r>
            <a:r>
              <a:rPr lang="en-US" altLang="zh-CN">
                <a:sym typeface="+mn-ea"/>
              </a:rPr>
              <a:t>onMessageArrivedCallback</a:t>
            </a:r>
            <a:r>
              <a:rPr lang="zh-CN" altLang="en-US">
                <a:sym typeface="+mn-ea"/>
              </a:rPr>
              <a:t>，这函数作用很显然了，就是当消息当到达后我们就执行</a:t>
            </a:r>
            <a:r>
              <a:rPr lang="en-US" altLang="zh-CN">
                <a:sym typeface="+mn-ea"/>
              </a:rPr>
              <a:t>onMessageArrivedCallback</a:t>
            </a:r>
            <a:r>
              <a:rPr lang="zh-CN" altLang="en-US">
                <a:sym typeface="+mn-ea"/>
              </a:rPr>
              <a:t>这个函数，这个函数总体就是做了一件事情，处理消息提取出</a:t>
            </a:r>
            <a:r>
              <a:rPr lang="en-US" altLang="zh-CN">
                <a:sym typeface="+mn-ea"/>
              </a:rPr>
              <a:t>topic</a:t>
            </a:r>
            <a:r>
              <a:rPr lang="zh-CN" altLang="en-US">
                <a:sym typeface="+mn-ea"/>
              </a:rPr>
              <a:t>和</a:t>
            </a:r>
            <a:r>
              <a:rPr lang="en-US" altLang="zh-CN">
                <a:sym typeface="+mn-ea"/>
              </a:rPr>
              <a:t>msg</a:t>
            </a:r>
            <a:r>
              <a:rPr lang="zh-CN" altLang="en-US">
                <a:sym typeface="+mn-ea"/>
              </a:rPr>
              <a:t>。</a:t>
            </a:r>
            <a:endParaRPr lang="zh-CN" altLang="en-US">
              <a:sym typeface="+mn-ea"/>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indent="457200"/>
            <a:r>
              <a:rPr lang="zh-CN" altLang="en-US">
                <a:sym typeface="+mn-ea"/>
              </a:rPr>
              <a:t>这时另一个问题就出来了，我们要怎么调用处理该消息的函数呢，最直接的方法就是</a:t>
            </a:r>
            <a:r>
              <a:rPr lang="en-US" altLang="zh-CN">
                <a:sym typeface="+mn-ea"/>
              </a:rPr>
              <a:t>if</a:t>
            </a:r>
            <a:r>
              <a:rPr lang="zh-CN" altLang="en-US">
                <a:sym typeface="+mn-ea"/>
              </a:rPr>
              <a:t>判断然后调用处理函数，</a:t>
            </a:r>
            <a:r>
              <a:rPr lang="en-US" altLang="zh-CN">
                <a:sym typeface="+mn-ea"/>
              </a:rPr>
              <a:t>if topic==’</a:t>
            </a:r>
            <a:r>
              <a:rPr lang="zh-CN" altLang="en-US">
                <a:sym typeface="+mn-ea"/>
              </a:rPr>
              <a:t>算法启用</a:t>
            </a:r>
            <a:r>
              <a:rPr lang="en-US" altLang="zh-CN">
                <a:sym typeface="+mn-ea"/>
              </a:rPr>
              <a:t>’ </a:t>
            </a:r>
            <a:r>
              <a:rPr lang="zh-CN" altLang="en-US">
                <a:sym typeface="+mn-ea"/>
              </a:rPr>
              <a:t>调用</a:t>
            </a:r>
            <a:r>
              <a:rPr lang="en-US" altLang="zh-CN">
                <a:sym typeface="+mn-ea"/>
              </a:rPr>
              <a:t> handleAlgorithmEnable else if topic==’</a:t>
            </a:r>
            <a:r>
              <a:rPr lang="zh-CN" altLang="en-US">
                <a:sym typeface="+mn-ea"/>
              </a:rPr>
              <a:t>算法同步</a:t>
            </a:r>
            <a:r>
              <a:rPr lang="en-US" altLang="zh-CN">
                <a:sym typeface="+mn-ea"/>
              </a:rPr>
              <a:t>’ </a:t>
            </a:r>
            <a:r>
              <a:rPr lang="zh-CN" altLang="en-US">
                <a:sym typeface="+mn-ea"/>
              </a:rPr>
              <a:t>调用</a:t>
            </a:r>
            <a:r>
              <a:rPr lang="en-US" altLang="zh-CN">
                <a:sym typeface="+mn-ea"/>
              </a:rPr>
              <a:t>handleAlgorithmSync</a:t>
            </a:r>
            <a:endParaRPr lang="en-US" altLang="zh-CN">
              <a:sym typeface="+mn-ea"/>
            </a:endParaRPr>
          </a:p>
          <a:p>
            <a:pPr indent="457200"/>
            <a:r>
              <a:rPr lang="zh-CN" altLang="en-US">
                <a:sym typeface="+mn-ea"/>
              </a:rPr>
              <a:t>这样也可以，但是我们的</a:t>
            </a:r>
            <a:r>
              <a:rPr lang="en-US" altLang="zh-CN">
                <a:sym typeface="+mn-ea"/>
              </a:rPr>
              <a:t>M</a:t>
            </a:r>
            <a:r>
              <a:rPr lang="en-US" altLang="zh-CN">
                <a:sym typeface="+mn-ea"/>
              </a:rPr>
              <a:t>qttClient</a:t>
            </a:r>
            <a:r>
              <a:rPr lang="en-US" altLang="zh-CN">
                <a:sym typeface="+mn-ea"/>
              </a:rPr>
              <a:t>.cpp</a:t>
            </a:r>
            <a:r>
              <a:rPr lang="zh-CN" altLang="en-US">
                <a:sym typeface="+mn-ea"/>
              </a:rPr>
              <a:t>并没有</a:t>
            </a:r>
            <a:r>
              <a:rPr lang="en-US" altLang="zh-CN">
                <a:sym typeface="+mn-ea"/>
              </a:rPr>
              <a:t>include MqttHandler.h</a:t>
            </a:r>
            <a:r>
              <a:rPr lang="zh-CN" altLang="en-US">
                <a:sym typeface="+mn-ea"/>
              </a:rPr>
              <a:t>，反而</a:t>
            </a:r>
            <a:r>
              <a:rPr lang="en-US" altLang="zh-CN">
                <a:sym typeface="+mn-ea"/>
              </a:rPr>
              <a:t>MqttHandler.cpp</a:t>
            </a:r>
            <a:r>
              <a:rPr lang="zh-CN" altLang="en-US">
                <a:sym typeface="+mn-ea"/>
              </a:rPr>
              <a:t>是</a:t>
            </a:r>
            <a:r>
              <a:rPr lang="en-US" altLang="zh-CN">
                <a:sym typeface="+mn-ea"/>
              </a:rPr>
              <a:t>include</a:t>
            </a:r>
            <a:r>
              <a:rPr lang="zh-CN" altLang="en-US">
                <a:sym typeface="+mn-ea"/>
              </a:rPr>
              <a:t>了</a:t>
            </a:r>
            <a:r>
              <a:rPr lang="en-US" altLang="zh-CN">
                <a:sym typeface="+mn-ea"/>
              </a:rPr>
              <a:t>M</a:t>
            </a:r>
            <a:r>
              <a:rPr lang="en-US" altLang="zh-CN">
                <a:sym typeface="+mn-ea"/>
              </a:rPr>
              <a:t>qttClient.cpp</a:t>
            </a:r>
            <a:r>
              <a:rPr lang="zh-CN" altLang="en-US">
                <a:sym typeface="+mn-ea"/>
              </a:rPr>
              <a:t>，可以进行双重依赖吗，答案是可以的，但这样耦合度太高，并不利于之后的维护，那我们该如何去调用</a:t>
            </a:r>
            <a:r>
              <a:rPr lang="en-US" altLang="zh-CN">
                <a:sym typeface="+mn-ea"/>
              </a:rPr>
              <a:t>MqttHandler</a:t>
            </a:r>
            <a:r>
              <a:rPr lang="zh-CN" altLang="en-US">
                <a:sym typeface="+mn-ea"/>
              </a:rPr>
              <a:t>中的函数呢？或者说让</a:t>
            </a:r>
            <a:r>
              <a:rPr lang="en-US" altLang="zh-CN">
                <a:sym typeface="+mn-ea"/>
              </a:rPr>
              <a:t>MqttHandler</a:t>
            </a:r>
            <a:r>
              <a:rPr lang="zh-CN" altLang="en-US">
                <a:sym typeface="+mn-ea"/>
              </a:rPr>
              <a:t>自己去调用他的函数呢？</a:t>
            </a:r>
            <a:endParaRPr lang="zh-CN" altLang="en-US">
              <a:sym typeface="+mn-ea"/>
            </a:endParaRPr>
          </a:p>
          <a:p>
            <a:pPr indent="457200"/>
            <a:r>
              <a:rPr lang="zh-CN" altLang="en-US">
                <a:sym typeface="+mn-ea"/>
              </a:rPr>
              <a:t>我们来想一个情景：在实验室中，大师兄收到了老师的消息：上午</a:t>
            </a:r>
            <a:r>
              <a:rPr lang="en-US" altLang="zh-CN">
                <a:sym typeface="+mn-ea"/>
              </a:rPr>
              <a:t>8</a:t>
            </a:r>
            <a:r>
              <a:rPr lang="zh-CN" altLang="en-US">
                <a:sym typeface="+mn-ea"/>
              </a:rPr>
              <a:t>：</a:t>
            </a:r>
            <a:r>
              <a:rPr lang="en-US" altLang="zh-CN">
                <a:sym typeface="+mn-ea"/>
              </a:rPr>
              <a:t>30</a:t>
            </a:r>
            <a:r>
              <a:rPr lang="zh-CN" altLang="en-US">
                <a:sym typeface="+mn-ea"/>
              </a:rPr>
              <a:t>来西海岸开组会，大师兄就会通知我们</a:t>
            </a:r>
            <a:r>
              <a:rPr lang="en-US" altLang="zh-CN">
                <a:sym typeface="+mn-ea"/>
              </a:rPr>
              <a:t>(8:30</a:t>
            </a:r>
            <a:r>
              <a:rPr lang="zh-CN" altLang="en-US">
                <a:sym typeface="+mn-ea"/>
              </a:rPr>
              <a:t>，组会</a:t>
            </a:r>
            <a:r>
              <a:rPr lang="en-US" altLang="zh-CN">
                <a:sym typeface="+mn-ea"/>
              </a:rPr>
              <a:t>)</a:t>
            </a:r>
            <a:r>
              <a:rPr lang="zh-CN" altLang="en-US">
                <a:sym typeface="+mn-ea"/>
              </a:rPr>
              <a:t>，我们就会给自己定一个闹钟</a:t>
            </a:r>
            <a:r>
              <a:rPr lang="zh-CN" altLang="en-US">
                <a:sym typeface="+mn-ea"/>
              </a:rPr>
              <a:t>以免迟到。如果大师兄收到老师的消息是：下午</a:t>
            </a:r>
            <a:r>
              <a:rPr lang="en-US" altLang="zh-CN">
                <a:sym typeface="+mn-ea"/>
              </a:rPr>
              <a:t>13</a:t>
            </a:r>
            <a:r>
              <a:rPr lang="zh-CN" altLang="en-US">
                <a:sym typeface="+mn-ea"/>
              </a:rPr>
              <a:t>：</a:t>
            </a:r>
            <a:r>
              <a:rPr lang="en-US" altLang="zh-CN">
                <a:sym typeface="+mn-ea"/>
              </a:rPr>
              <a:t>30</a:t>
            </a:r>
            <a:r>
              <a:rPr lang="zh-CN" altLang="en-US">
                <a:sym typeface="+mn-ea"/>
              </a:rPr>
              <a:t>讲论文，大师兄就会通知我们</a:t>
            </a:r>
            <a:r>
              <a:rPr lang="en-US" altLang="zh-CN">
                <a:sym typeface="+mn-ea"/>
              </a:rPr>
              <a:t>(13:30</a:t>
            </a:r>
            <a:r>
              <a:rPr lang="zh-CN" altLang="en-US">
                <a:sym typeface="+mn-ea"/>
              </a:rPr>
              <a:t>，讲论文</a:t>
            </a:r>
            <a:r>
              <a:rPr lang="en-US" altLang="zh-CN">
                <a:sym typeface="+mn-ea"/>
              </a:rPr>
              <a:t>)</a:t>
            </a:r>
            <a:r>
              <a:rPr lang="zh-CN" altLang="en-US">
                <a:sym typeface="+mn-ea"/>
              </a:rPr>
              <a:t>。是不是就和刚才的</a:t>
            </a:r>
            <a:r>
              <a:rPr lang="en-US" altLang="zh-CN">
                <a:sym typeface="+mn-ea"/>
              </a:rPr>
              <a:t>MqttClient</a:t>
            </a:r>
            <a:r>
              <a:rPr lang="zh-CN" altLang="en-US">
                <a:sym typeface="+mn-ea"/>
              </a:rPr>
              <a:t>和</a:t>
            </a:r>
            <a:r>
              <a:rPr lang="en-US" altLang="zh-CN">
                <a:sym typeface="+mn-ea"/>
              </a:rPr>
              <a:t>MqttHandler</a:t>
            </a:r>
            <a:r>
              <a:rPr lang="zh-CN" altLang="en-US">
                <a:sym typeface="+mn-ea"/>
              </a:rPr>
              <a:t>的关系类似了呢？这就是观察者模式</a:t>
            </a:r>
            <a:endParaRPr lang="en-US" altLang="zh-CN">
              <a:sym typeface="+mn-ea"/>
            </a:endParaRPr>
          </a:p>
          <a:p>
            <a:pPr indent="457200"/>
            <a:r>
              <a:rPr lang="zh-CN" altLang="en-US">
                <a:sym typeface="+mn-ea"/>
              </a:rPr>
              <a:t>记得我们之前</a:t>
            </a:r>
            <a:r>
              <a:rPr lang="en-US" altLang="zh-CN">
                <a:sym typeface="+mn-ea"/>
              </a:rPr>
              <a:t>MqttHandler::start</a:t>
            </a:r>
            <a:r>
              <a:rPr lang="zh-CN" altLang="en-US">
                <a:sym typeface="+mn-ea"/>
              </a:rPr>
              <a:t>有一句</a:t>
            </a:r>
            <a:endParaRPr lang="zh-CN" altLang="en-US">
              <a:sym typeface="+mn-ea"/>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indent="457200"/>
            <a:r>
              <a:rPr lang="zh-CN" altLang="en-US">
                <a:sym typeface="+mn-ea"/>
              </a:rPr>
              <a:t>这时另一个问题就出来了，我们要怎么调用处理该消息的函数呢，最直接的方法就是</a:t>
            </a:r>
            <a:r>
              <a:rPr lang="en-US" altLang="zh-CN">
                <a:sym typeface="+mn-ea"/>
              </a:rPr>
              <a:t>if</a:t>
            </a:r>
            <a:r>
              <a:rPr lang="zh-CN" altLang="en-US">
                <a:sym typeface="+mn-ea"/>
              </a:rPr>
              <a:t>判断然后调用处理函数，</a:t>
            </a:r>
            <a:r>
              <a:rPr lang="en-US" altLang="zh-CN">
                <a:sym typeface="+mn-ea"/>
              </a:rPr>
              <a:t>if topic==’</a:t>
            </a:r>
            <a:r>
              <a:rPr lang="zh-CN" altLang="en-US">
                <a:sym typeface="+mn-ea"/>
              </a:rPr>
              <a:t>算法启用</a:t>
            </a:r>
            <a:r>
              <a:rPr lang="en-US" altLang="zh-CN">
                <a:sym typeface="+mn-ea"/>
              </a:rPr>
              <a:t>’ </a:t>
            </a:r>
            <a:r>
              <a:rPr lang="zh-CN" altLang="en-US">
                <a:sym typeface="+mn-ea"/>
              </a:rPr>
              <a:t>调用</a:t>
            </a:r>
            <a:r>
              <a:rPr lang="en-US" altLang="zh-CN">
                <a:sym typeface="+mn-ea"/>
              </a:rPr>
              <a:t> handleAlgorithmEnable else if topic==’</a:t>
            </a:r>
            <a:r>
              <a:rPr lang="zh-CN" altLang="en-US">
                <a:sym typeface="+mn-ea"/>
              </a:rPr>
              <a:t>算法同步</a:t>
            </a:r>
            <a:r>
              <a:rPr lang="en-US" altLang="zh-CN">
                <a:sym typeface="+mn-ea"/>
              </a:rPr>
              <a:t>’ </a:t>
            </a:r>
            <a:r>
              <a:rPr lang="zh-CN" altLang="en-US">
                <a:sym typeface="+mn-ea"/>
              </a:rPr>
              <a:t>调用</a:t>
            </a:r>
            <a:r>
              <a:rPr lang="en-US" altLang="zh-CN">
                <a:sym typeface="+mn-ea"/>
              </a:rPr>
              <a:t>handleAlgorithmSync</a:t>
            </a:r>
            <a:endParaRPr lang="en-US" altLang="zh-CN">
              <a:sym typeface="+mn-ea"/>
            </a:endParaRPr>
          </a:p>
          <a:p>
            <a:pPr indent="457200"/>
            <a:r>
              <a:rPr lang="zh-CN" altLang="en-US">
                <a:sym typeface="+mn-ea"/>
              </a:rPr>
              <a:t>这样也可以，但是我们的</a:t>
            </a:r>
            <a:r>
              <a:rPr lang="en-US" altLang="zh-CN">
                <a:sym typeface="+mn-ea"/>
              </a:rPr>
              <a:t>M</a:t>
            </a:r>
            <a:r>
              <a:rPr lang="en-US" altLang="zh-CN">
                <a:sym typeface="+mn-ea"/>
              </a:rPr>
              <a:t>qttClient</a:t>
            </a:r>
            <a:r>
              <a:rPr lang="en-US" altLang="zh-CN">
                <a:sym typeface="+mn-ea"/>
              </a:rPr>
              <a:t>.cpp</a:t>
            </a:r>
            <a:r>
              <a:rPr lang="zh-CN" altLang="en-US">
                <a:sym typeface="+mn-ea"/>
              </a:rPr>
              <a:t>并没有</a:t>
            </a:r>
            <a:r>
              <a:rPr lang="en-US" altLang="zh-CN">
                <a:sym typeface="+mn-ea"/>
              </a:rPr>
              <a:t>include MqttHandler.h</a:t>
            </a:r>
            <a:r>
              <a:rPr lang="zh-CN" altLang="en-US">
                <a:sym typeface="+mn-ea"/>
              </a:rPr>
              <a:t>，反而</a:t>
            </a:r>
            <a:r>
              <a:rPr lang="en-US" altLang="zh-CN">
                <a:sym typeface="+mn-ea"/>
              </a:rPr>
              <a:t>MqttHandler.cpp</a:t>
            </a:r>
            <a:r>
              <a:rPr lang="zh-CN" altLang="en-US">
                <a:sym typeface="+mn-ea"/>
              </a:rPr>
              <a:t>是</a:t>
            </a:r>
            <a:r>
              <a:rPr lang="en-US" altLang="zh-CN">
                <a:sym typeface="+mn-ea"/>
              </a:rPr>
              <a:t>include</a:t>
            </a:r>
            <a:r>
              <a:rPr lang="zh-CN" altLang="en-US">
                <a:sym typeface="+mn-ea"/>
              </a:rPr>
              <a:t>了</a:t>
            </a:r>
            <a:r>
              <a:rPr lang="en-US" altLang="zh-CN">
                <a:sym typeface="+mn-ea"/>
              </a:rPr>
              <a:t>M</a:t>
            </a:r>
            <a:r>
              <a:rPr lang="en-US" altLang="zh-CN">
                <a:sym typeface="+mn-ea"/>
              </a:rPr>
              <a:t>qttClient.cpp</a:t>
            </a:r>
            <a:r>
              <a:rPr lang="zh-CN" altLang="en-US">
                <a:sym typeface="+mn-ea"/>
              </a:rPr>
              <a:t>，可以进行双重依赖吗，答案是可以的，但这样耦合度太高，并不利于之后的维护，那我们该如何去调用</a:t>
            </a:r>
            <a:r>
              <a:rPr lang="en-US" altLang="zh-CN">
                <a:sym typeface="+mn-ea"/>
              </a:rPr>
              <a:t>MqttHandler</a:t>
            </a:r>
            <a:r>
              <a:rPr lang="zh-CN" altLang="en-US">
                <a:sym typeface="+mn-ea"/>
              </a:rPr>
              <a:t>中的函数呢？或者说让</a:t>
            </a:r>
            <a:r>
              <a:rPr lang="en-US" altLang="zh-CN">
                <a:sym typeface="+mn-ea"/>
              </a:rPr>
              <a:t>MqttHandler</a:t>
            </a:r>
            <a:r>
              <a:rPr lang="zh-CN" altLang="en-US">
                <a:sym typeface="+mn-ea"/>
              </a:rPr>
              <a:t>自己去调用他的函数呢？</a:t>
            </a:r>
            <a:endParaRPr lang="zh-CN" altLang="en-US">
              <a:sym typeface="+mn-ea"/>
            </a:endParaRPr>
          </a:p>
          <a:p>
            <a:pPr indent="457200"/>
            <a:r>
              <a:rPr lang="zh-CN" altLang="en-US">
                <a:sym typeface="+mn-ea"/>
              </a:rPr>
              <a:t>我们来想一个情景：在实验室中，大师兄收到了老师的消息：上午</a:t>
            </a:r>
            <a:r>
              <a:rPr lang="en-US" altLang="zh-CN">
                <a:sym typeface="+mn-ea"/>
              </a:rPr>
              <a:t>8</a:t>
            </a:r>
            <a:r>
              <a:rPr lang="zh-CN" altLang="en-US">
                <a:sym typeface="+mn-ea"/>
              </a:rPr>
              <a:t>：</a:t>
            </a:r>
            <a:r>
              <a:rPr lang="en-US" altLang="zh-CN">
                <a:sym typeface="+mn-ea"/>
              </a:rPr>
              <a:t>30</a:t>
            </a:r>
            <a:r>
              <a:rPr lang="zh-CN" altLang="en-US">
                <a:sym typeface="+mn-ea"/>
              </a:rPr>
              <a:t>来西海岸开组会，大师兄就会通知我们</a:t>
            </a:r>
            <a:r>
              <a:rPr lang="en-US" altLang="zh-CN">
                <a:sym typeface="+mn-ea"/>
              </a:rPr>
              <a:t>(8:30</a:t>
            </a:r>
            <a:r>
              <a:rPr lang="zh-CN" altLang="en-US">
                <a:sym typeface="+mn-ea"/>
              </a:rPr>
              <a:t>，组会</a:t>
            </a:r>
            <a:r>
              <a:rPr lang="en-US" altLang="zh-CN">
                <a:sym typeface="+mn-ea"/>
              </a:rPr>
              <a:t>)</a:t>
            </a:r>
            <a:r>
              <a:rPr lang="zh-CN" altLang="en-US">
                <a:sym typeface="+mn-ea"/>
              </a:rPr>
              <a:t>，我们就会给自己定一个闹钟</a:t>
            </a:r>
            <a:r>
              <a:rPr lang="zh-CN" altLang="en-US">
                <a:sym typeface="+mn-ea"/>
              </a:rPr>
              <a:t>以免迟到。如果大师兄收到老师的消息是：下午</a:t>
            </a:r>
            <a:r>
              <a:rPr lang="en-US" altLang="zh-CN">
                <a:sym typeface="+mn-ea"/>
              </a:rPr>
              <a:t>13</a:t>
            </a:r>
            <a:r>
              <a:rPr lang="zh-CN" altLang="en-US">
                <a:sym typeface="+mn-ea"/>
              </a:rPr>
              <a:t>：</a:t>
            </a:r>
            <a:r>
              <a:rPr lang="en-US" altLang="zh-CN">
                <a:sym typeface="+mn-ea"/>
              </a:rPr>
              <a:t>30</a:t>
            </a:r>
            <a:r>
              <a:rPr lang="zh-CN" altLang="en-US">
                <a:sym typeface="+mn-ea"/>
              </a:rPr>
              <a:t>讲论文，大师兄就会通知我们</a:t>
            </a:r>
            <a:r>
              <a:rPr lang="en-US" altLang="zh-CN">
                <a:sym typeface="+mn-ea"/>
              </a:rPr>
              <a:t>(13:30</a:t>
            </a:r>
            <a:r>
              <a:rPr lang="zh-CN" altLang="en-US">
                <a:sym typeface="+mn-ea"/>
              </a:rPr>
              <a:t>，讲论文</a:t>
            </a:r>
            <a:r>
              <a:rPr lang="en-US" altLang="zh-CN">
                <a:sym typeface="+mn-ea"/>
              </a:rPr>
              <a:t>)</a:t>
            </a:r>
            <a:r>
              <a:rPr lang="zh-CN" altLang="en-US">
                <a:sym typeface="+mn-ea"/>
              </a:rPr>
              <a:t>。是不是就和刚才的</a:t>
            </a:r>
            <a:r>
              <a:rPr lang="en-US" altLang="zh-CN">
                <a:sym typeface="+mn-ea"/>
              </a:rPr>
              <a:t>MqttClient</a:t>
            </a:r>
            <a:r>
              <a:rPr lang="zh-CN" altLang="en-US">
                <a:sym typeface="+mn-ea"/>
              </a:rPr>
              <a:t>和</a:t>
            </a:r>
            <a:r>
              <a:rPr lang="en-US" altLang="zh-CN">
                <a:sym typeface="+mn-ea"/>
              </a:rPr>
              <a:t>MqttHandler</a:t>
            </a:r>
            <a:r>
              <a:rPr lang="zh-CN" altLang="en-US">
                <a:sym typeface="+mn-ea"/>
              </a:rPr>
              <a:t>的关系类似了呢？这就是观察者模式</a:t>
            </a:r>
            <a:endParaRPr lang="zh-CN" altLang="en-US">
              <a:sym typeface="+mn-ea"/>
            </a:endParaRPr>
          </a:p>
          <a:p>
            <a:pPr indent="457200"/>
            <a:endParaRPr lang="en-US" altLang="zh-CN">
              <a:sym typeface="+mn-ea"/>
            </a:endParaRPr>
          </a:p>
          <a:p>
            <a:pPr indent="457200"/>
            <a:r>
              <a:rPr lang="zh-CN" altLang="en-US">
                <a:sym typeface="+mn-ea"/>
              </a:rPr>
              <a:t>记得我们之前</a:t>
            </a:r>
            <a:r>
              <a:rPr lang="en-US" altLang="zh-CN">
                <a:sym typeface="+mn-ea"/>
              </a:rPr>
              <a:t>MqttHandler::start</a:t>
            </a:r>
            <a:r>
              <a:rPr lang="zh-CN" altLang="en-US">
                <a:sym typeface="+mn-ea"/>
              </a:rPr>
              <a:t>有一句</a:t>
            </a:r>
            <a:r>
              <a:rPr lang="en-US" altLang="zh-CN">
                <a:sym typeface="+mn-ea"/>
              </a:rPr>
              <a:t>mqttClient_.addObserver(this);</a:t>
            </a:r>
            <a:r>
              <a:rPr lang="zh-CN" altLang="en-US">
                <a:sym typeface="+mn-ea"/>
              </a:rPr>
              <a:t>表示将</a:t>
            </a:r>
            <a:r>
              <a:rPr lang="en-US" altLang="zh-CN">
                <a:sym typeface="+mn-ea"/>
              </a:rPr>
              <a:t>MqttHandler</a:t>
            </a:r>
            <a:r>
              <a:rPr lang="zh-CN" altLang="en-US">
                <a:sym typeface="+mn-ea"/>
              </a:rPr>
              <a:t>注册为</a:t>
            </a:r>
            <a:r>
              <a:rPr lang="en-US" altLang="zh-CN">
                <a:sym typeface="+mn-ea"/>
              </a:rPr>
              <a:t>MqttClient</a:t>
            </a:r>
            <a:r>
              <a:rPr lang="zh-CN" altLang="en-US">
                <a:sym typeface="+mn-ea"/>
              </a:rPr>
              <a:t>的观察者。那么这里的</a:t>
            </a:r>
            <a:r>
              <a:rPr lang="en-US" altLang="zh-CN">
                <a:sym typeface="+mn-ea"/>
              </a:rPr>
              <a:t>self-&gt;notifyMessageReceived(topic, msg);</a:t>
            </a:r>
            <a:r>
              <a:rPr lang="zh-CN" altLang="en-US">
                <a:sym typeface="+mn-ea"/>
              </a:rPr>
              <a:t>的意思就是收到消息了通知</a:t>
            </a:r>
            <a:r>
              <a:rPr lang="en-US" altLang="zh-CN">
                <a:sym typeface="+mn-ea"/>
              </a:rPr>
              <a:t>MqttHandler</a:t>
            </a:r>
            <a:r>
              <a:rPr lang="zh-CN" altLang="en-US">
                <a:sym typeface="+mn-ea"/>
              </a:rPr>
              <a:t>，因为观察者可能不止一个，所以</a:t>
            </a:r>
            <a:r>
              <a:rPr lang="en-US" altLang="zh-CN">
                <a:sym typeface="+mn-ea"/>
              </a:rPr>
              <a:t>notifyMessageReceived</a:t>
            </a:r>
            <a:r>
              <a:rPr lang="zh-CN" altLang="en-US">
                <a:sym typeface="+mn-ea"/>
              </a:rPr>
              <a:t>函数的功能就是通知所有的观察者，这样就可以调用</a:t>
            </a:r>
            <a:r>
              <a:rPr lang="en-US" altLang="zh-CN">
                <a:sym typeface="+mn-ea"/>
              </a:rPr>
              <a:t>MqttHandler::onMessageReceived</a:t>
            </a:r>
            <a:r>
              <a:rPr lang="zh-CN" altLang="en-US">
                <a:sym typeface="+mn-ea"/>
              </a:rPr>
              <a:t>函数了。</a:t>
            </a:r>
            <a:endParaRPr lang="zh-CN" altLang="en-US">
              <a:sym typeface="+mn-ea"/>
            </a:endParaRPr>
          </a:p>
          <a:p>
            <a:pPr indent="457200"/>
            <a:endParaRPr lang="zh-CN" altLang="en-US">
              <a:sym typeface="+mn-ea"/>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2000" dirty="0"/>
              <a:t>对于问题二如何</a:t>
            </a:r>
            <a:r>
              <a:rPr lang="zh-CN" altLang="en-US" sz="2000" dirty="0">
                <a:sym typeface="+mn-ea"/>
              </a:rPr>
              <a:t>提取</a:t>
            </a:r>
            <a:r>
              <a:rPr lang="en-US" altLang="zh-CN" sz="2000" dirty="0">
                <a:sym typeface="+mn-ea"/>
              </a:rPr>
              <a:t>‘</a:t>
            </a:r>
            <a:r>
              <a:rPr lang="zh-CN" altLang="en-US" sz="2000" dirty="0">
                <a:sym typeface="+mn-ea"/>
              </a:rPr>
              <a:t>抗干扰的几何特征</a:t>
            </a:r>
            <a:r>
              <a:rPr lang="en-US" altLang="zh-CN" sz="2000" dirty="0">
                <a:sym typeface="+mn-ea"/>
              </a:rPr>
              <a:t>’</a:t>
            </a:r>
            <a:r>
              <a:rPr lang="zh-CN" altLang="en-US" sz="2000" dirty="0">
                <a:sym typeface="+mn-ea"/>
              </a:rPr>
              <a:t>，</a:t>
            </a:r>
            <a:r>
              <a:rPr lang="zh-CN" altLang="en-US" sz="2000" dirty="0"/>
              <a:t>解决思路是将</a:t>
            </a:r>
            <a:r>
              <a:rPr lang="en-US" altLang="zh-CN" sz="2000" dirty="0"/>
              <a:t>“</a:t>
            </a:r>
            <a:r>
              <a:rPr lang="zh-CN" altLang="en-US" sz="2000" dirty="0"/>
              <a:t>距离场</a:t>
            </a:r>
            <a:r>
              <a:rPr lang="en-US" altLang="zh-CN" sz="2000" dirty="0"/>
              <a:t>”</a:t>
            </a:r>
            <a:r>
              <a:rPr lang="zh-CN" altLang="en-US" sz="2000" dirty="0"/>
              <a:t>转化为</a:t>
            </a:r>
            <a:r>
              <a:rPr lang="en-US" altLang="zh-CN" sz="2000" dirty="0"/>
              <a:t>“</a:t>
            </a:r>
            <a:r>
              <a:rPr lang="zh-CN" altLang="en-US" sz="2000" dirty="0"/>
              <a:t>梯度场</a:t>
            </a:r>
            <a:r>
              <a:rPr lang="en-US" altLang="zh-CN" sz="2000" dirty="0"/>
              <a:t>”</a:t>
            </a:r>
            <a:r>
              <a:rPr lang="zh-CN" altLang="en-US" sz="2000" dirty="0"/>
              <a:t>。</a:t>
            </a:r>
            <a:r>
              <a:rPr lang="en-US" altLang="zh-CN" sz="2000" dirty="0"/>
              <a:t> </a:t>
            </a:r>
            <a:r>
              <a:rPr lang="zh-CN" altLang="en-US" sz="2000" dirty="0">
                <a:latin typeface="宋体" panose="02010600030101010101" pitchFamily="2" charset="-122"/>
                <a:ea typeface="宋体" panose="02010600030101010101" pitchFamily="2" charset="-122"/>
                <a:cs typeface="宋体" panose="02010600030101010101" pitchFamily="2" charset="-122"/>
                <a:sym typeface="+mn-ea"/>
              </a:rPr>
              <a:t>显式提取深度的空间变化率以表征物体形状。</a:t>
            </a:r>
            <a:r>
              <a:rPr lang="zh-CN" altLang="en-US" sz="2000" dirty="0">
                <a:latin typeface="宋体" panose="02010600030101010101" pitchFamily="2" charset="-122"/>
                <a:ea typeface="宋体" panose="02010600030101010101" pitchFamily="2" charset="-122"/>
                <a:cs typeface="阿里巴巴普惠体 3.0 55 Regular" panose="00020600040101010101" pitchFamily="18" charset="-122"/>
                <a:sym typeface="+mn-ea"/>
              </a:rPr>
              <a:t>引入中心差分卷积模块CDC，捕获细粒度的深度纹理与局部相对距离，增强网络对</a:t>
            </a:r>
            <a:r>
              <a:rPr lang="zh-CN" altLang="en-US" sz="2000" dirty="0">
                <a:solidFill>
                  <a:srgbClr val="FF0000"/>
                </a:solidFill>
                <a:latin typeface="宋体" panose="02010600030101010101" pitchFamily="2" charset="-122"/>
                <a:ea typeface="宋体" panose="02010600030101010101" pitchFamily="2" charset="-122"/>
                <a:cs typeface="阿里巴巴普惠体 3.0 55 Regular" panose="00020600040101010101" pitchFamily="18" charset="-122"/>
                <a:sym typeface="+mn-ea"/>
              </a:rPr>
              <a:t>无人机视角</a:t>
            </a:r>
            <a:r>
              <a:rPr lang="zh-CN" altLang="en-US" sz="2000" dirty="0">
                <a:latin typeface="宋体" panose="02010600030101010101" pitchFamily="2" charset="-122"/>
                <a:ea typeface="宋体" panose="02010600030101010101" pitchFamily="2" charset="-122"/>
                <a:cs typeface="阿里巴巴普惠体 3.0 55 Regular" panose="00020600040101010101" pitchFamily="18" charset="-122"/>
                <a:sym typeface="+mn-ea"/>
              </a:rPr>
              <a:t>下微小物体表面几何结构的感知能力</a:t>
            </a:r>
            <a:endParaRPr lang="zh-CN" altLang="en-US" sz="2000" b="1" dirty="0">
              <a:solidFill>
                <a:schemeClr val="tx1"/>
              </a:solidFill>
              <a:latin typeface="宋体" panose="02010600030101010101" pitchFamily="2" charset="-122"/>
              <a:ea typeface="宋体" panose="02010600030101010101" pitchFamily="2" charset="-122"/>
              <a:cs typeface="宋体" panose="02010600030101010101" pitchFamily="2" charset="-122"/>
            </a:endParaRPr>
          </a:p>
          <a:p>
            <a:endParaRPr lang="zh-CN" altLang="en-US" sz="2000" dirty="0"/>
          </a:p>
        </p:txBody>
      </p:sp>
      <p:sp>
        <p:nvSpPr>
          <p:cNvPr id="4" name="灯片编号占位符 3"/>
          <p:cNvSpPr>
            <a:spLocks noGrp="1"/>
          </p:cNvSpPr>
          <p:nvPr>
            <p:ph type="sldNum" sz="quarter" idx="10"/>
          </p:nvPr>
        </p:nvSpPr>
        <p:spPr/>
        <p:txBody>
          <a:bodyPr/>
          <a:lstStyle/>
          <a:p>
            <a:fld id="{3D7F0B17-20C8-4CBB-BD66-70902ADF39C6}"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0000"/>
              </a:lnSpc>
            </a:pPr>
            <a:r>
              <a:rPr lang="zh-CN" altLang="en-US" sz="2000" dirty="0"/>
              <a:t>对于问题三，</a:t>
            </a:r>
            <a:r>
              <a:rPr lang="zh-CN" altLang="en-US" sz="2000" dirty="0">
                <a:latin typeface="宋体" panose="02010600030101010101" pitchFamily="2" charset="-122"/>
                <a:ea typeface="宋体" panose="02010600030101010101" pitchFamily="2" charset="-122"/>
                <a:cs typeface="宋体" panose="02010600030101010101" pitchFamily="2" charset="-122"/>
                <a:sym typeface="+mn-ea"/>
              </a:rPr>
              <a:t>直接融合会引入噪声干扰</a:t>
            </a:r>
            <a:r>
              <a:rPr lang="zh-CN" altLang="en-US" sz="2000" dirty="0"/>
              <a:t>；同时，几何信息在深层网络中容易被</a:t>
            </a:r>
            <a:r>
              <a:rPr lang="en-US" altLang="zh-CN" sz="2000" dirty="0"/>
              <a:t>“</a:t>
            </a:r>
            <a:r>
              <a:rPr lang="zh-CN" altLang="en-US" sz="2000" dirty="0"/>
              <a:t>稀释</a:t>
            </a:r>
            <a:r>
              <a:rPr lang="en-US" altLang="zh-CN" sz="2000" dirty="0"/>
              <a:t>”</a:t>
            </a:r>
            <a:r>
              <a:rPr lang="zh-CN" altLang="en-US" sz="2000" dirty="0"/>
              <a:t>。</a:t>
            </a:r>
            <a:r>
              <a:rPr lang="en-US" altLang="zh-CN" sz="2000" dirty="0"/>
              <a:t> </a:t>
            </a:r>
            <a:r>
              <a:rPr lang="zh-CN" altLang="en-US" sz="2000" dirty="0"/>
              <a:t>提出一种跨尺度几何显著性引导机制。</a:t>
            </a:r>
            <a:r>
              <a:rPr lang="en-US" altLang="zh-CN" sz="2000" dirty="0"/>
              <a:t> </a:t>
            </a:r>
            <a:r>
              <a:rPr lang="zh-CN" altLang="en-US" sz="2000" dirty="0"/>
              <a:t>利用局部方差构建置信度</a:t>
            </a:r>
            <a:r>
              <a:rPr lang="zh-CN" altLang="en-US" sz="2000" dirty="0">
                <a:latin typeface="宋体" panose="02010600030101010101" pitchFamily="2" charset="-122"/>
                <a:ea typeface="宋体" panose="02010600030101010101" pitchFamily="2" charset="-122"/>
                <a:cs typeface="宋体" panose="02010600030101010101" pitchFamily="2" charset="-122"/>
                <a:sym typeface="+mn-ea"/>
              </a:rPr>
              <a:t>评估机制</a:t>
            </a:r>
            <a:r>
              <a:rPr lang="zh-CN" altLang="en-US" sz="2000" dirty="0"/>
              <a:t>，通过注意力门控滤除深度图中的伪影噪声，建立跨层通路，</a:t>
            </a:r>
            <a:r>
              <a:rPr lang="zh-CN" altLang="en-US" sz="2000" dirty="0">
                <a:latin typeface="宋体" panose="02010600030101010101" pitchFamily="2" charset="-122"/>
                <a:ea typeface="宋体" panose="02010600030101010101" pitchFamily="2" charset="-122"/>
                <a:cs typeface="宋体" panose="02010600030101010101" pitchFamily="2" charset="-122"/>
                <a:sym typeface="+mn-ea"/>
              </a:rPr>
              <a:t>以残差流形式直接引导深层特征的聚合方向,防止几何信息在下采样过程中丢失。</a:t>
            </a:r>
            <a:endParaRPr lang="zh-CN" altLang="en-US" sz="2000" dirty="0"/>
          </a:p>
        </p:txBody>
      </p:sp>
      <p:sp>
        <p:nvSpPr>
          <p:cNvPr id="4" name="灯片编号占位符 3"/>
          <p:cNvSpPr>
            <a:spLocks noGrp="1"/>
          </p:cNvSpPr>
          <p:nvPr>
            <p:ph type="sldNum" sz="quarter" idx="10"/>
          </p:nvPr>
        </p:nvSpPr>
        <p:spPr/>
        <p:txBody>
          <a:bodyPr/>
          <a:lstStyle/>
          <a:p>
            <a:fld id="{3D7F0B17-20C8-4CBB-BD66-70902ADF39C6}"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indent="457200"/>
            <a:r>
              <a:rPr lang="zh-CN" altLang="en-US">
                <a:sym typeface="+mn-ea"/>
              </a:rPr>
              <a:t>我们的</a:t>
            </a:r>
            <a:r>
              <a:rPr lang="en-US" altLang="zh-CN">
                <a:sym typeface="+mn-ea"/>
              </a:rPr>
              <a:t>topic</a:t>
            </a:r>
            <a:r>
              <a:rPr lang="zh-CN" altLang="en-US">
                <a:sym typeface="+mn-ea"/>
              </a:rPr>
              <a:t>是</a:t>
            </a:r>
            <a:r>
              <a:rPr lang="en-US" altLang="zh-CN">
                <a:sym typeface="+mn-ea"/>
              </a:rPr>
              <a:t>thing/product/{device_sn}/services</a:t>
            </a:r>
            <a:r>
              <a:rPr lang="zh-CN" altLang="en-US">
                <a:sym typeface="+mn-ea"/>
              </a:rPr>
              <a:t>，所以走</a:t>
            </a:r>
            <a:r>
              <a:rPr lang="en-US" altLang="zh-CN">
                <a:sym typeface="+mn-ea"/>
              </a:rPr>
              <a:t>handleServiceCommand</a:t>
            </a:r>
            <a:r>
              <a:rPr lang="zh-CN" altLang="en-US">
                <a:sym typeface="+mn-ea"/>
              </a:rPr>
              <a:t>，函数处理</a:t>
            </a:r>
            <a:r>
              <a:rPr lang="en-US" altLang="zh-CN">
                <a:sym typeface="+mn-ea"/>
              </a:rPr>
              <a:t>json</a:t>
            </a:r>
            <a:r>
              <a:rPr lang="zh-CN" altLang="en-US">
                <a:sym typeface="+mn-ea"/>
              </a:rPr>
              <a:t>提取请求内容，根据</a:t>
            </a:r>
            <a:r>
              <a:rPr lang="en-US" altLang="zh-CN">
                <a:sym typeface="+mn-ea"/>
              </a:rPr>
              <a:t>menthod</a:t>
            </a:r>
            <a:r>
              <a:rPr lang="zh-CN" altLang="en-US">
                <a:sym typeface="+mn-ea"/>
              </a:rPr>
              <a:t>来调用相关的处理函数。</a:t>
            </a:r>
            <a:r>
              <a:rPr lang="en-US" altLang="zh-CN">
                <a:sym typeface="+mn-ea"/>
              </a:rPr>
              <a:t>commandHandlers_</a:t>
            </a:r>
            <a:r>
              <a:rPr lang="zh-CN" altLang="en-US">
                <a:sym typeface="+mn-ea"/>
              </a:rPr>
              <a:t>其实就是一个</a:t>
            </a:r>
            <a:r>
              <a:rPr lang="en-US" altLang="zh-CN">
                <a:sym typeface="+mn-ea"/>
              </a:rPr>
              <a:t>map&lt;string,funtion&gt;</a:t>
            </a:r>
            <a:r>
              <a:rPr lang="zh-CN" altLang="en-US">
                <a:sym typeface="+mn-ea"/>
              </a:rPr>
              <a:t>，他存储了所有处理函数。</a:t>
            </a:r>
            <a:endParaRPr lang="zh-CN" altLang="en-US">
              <a:sym typeface="+mn-ea"/>
            </a:endParaRPr>
          </a:p>
          <a:p>
            <a:pPr indent="457200"/>
            <a:r>
              <a:rPr lang="zh-CN" altLang="en-US">
                <a:sym typeface="+mn-ea"/>
              </a:rPr>
              <a:t>之后数据走向</a:t>
            </a:r>
            <a:r>
              <a:rPr lang="en-US" altLang="zh-CN">
                <a:sym typeface="+mn-ea"/>
              </a:rPr>
              <a:t>handleAlgorithmEnable</a:t>
            </a:r>
            <a:r>
              <a:rPr lang="zh-CN" altLang="en-US">
                <a:sym typeface="+mn-ea"/>
              </a:rPr>
              <a:t>，该函数重点就是启动任务和发送</a:t>
            </a:r>
            <a:r>
              <a:rPr lang="en-US" altLang="zh-CN">
                <a:sym typeface="+mn-ea"/>
              </a:rPr>
              <a:t>device_algorithm_enable</a:t>
            </a:r>
            <a:r>
              <a:rPr lang="zh-CN" altLang="en-US">
                <a:sym typeface="+mn-ea"/>
              </a:rPr>
              <a:t>的应答，</a:t>
            </a:r>
            <a:r>
              <a:rPr lang="en-US" altLang="zh-CN">
                <a:sym typeface="+mn-ea"/>
              </a:rPr>
              <a:t>startTask</a:t>
            </a:r>
            <a:r>
              <a:rPr lang="zh-CN" altLang="en-US">
                <a:sym typeface="+mn-ea"/>
              </a:rPr>
              <a:t>重点就是创建和启动任务，我们先看是如何创建的，这里使用了简单工厂模式来判断。为什么要用简单工厂呢，可以想一下如果我们不用简单工厂，那我们创建、启动、停止任务都要判断是视频流分析任务还是媒体文件分析任务然后再去执行相应的函数，我们这是两个任务还好，如果我们再加几个任务呢，大量的重复代码不说，耦合度会越来越高，代码也会越来越难阅读。但是使用简单工厂之后，我们就只需要在</a:t>
            </a:r>
            <a:r>
              <a:rPr lang="en-US" altLang="zh-CN">
                <a:sym typeface="+mn-ea"/>
              </a:rPr>
              <a:t>switch</a:t>
            </a:r>
            <a:r>
              <a:rPr lang="zh-CN" altLang="en-US">
                <a:sym typeface="+mn-ea"/>
              </a:rPr>
              <a:t>类这里加上自己新增加的任务就可以了。无论是视频流还是媒体文件分析，都去继承</a:t>
            </a:r>
            <a:r>
              <a:rPr lang="en-US" altLang="zh-CN">
                <a:sym typeface="+mn-ea"/>
              </a:rPr>
              <a:t>ITask</a:t>
            </a:r>
            <a:r>
              <a:rPr lang="zh-CN" altLang="en-US">
                <a:sym typeface="+mn-ea"/>
              </a:rPr>
              <a:t>这个类，实现他的接口，这样我们就可以使用统一的函数来实现不同任务的功能了。</a:t>
            </a:r>
            <a:endParaRPr lang="zh-CN" altLang="en-US">
              <a:sym typeface="+mn-ea"/>
            </a:endParaRPr>
          </a:p>
          <a:p>
            <a:pPr indent="457200"/>
            <a:r>
              <a:rPr lang="zh-CN" altLang="en-US">
                <a:sym typeface="+mn-ea"/>
              </a:rPr>
              <a:t>创建完任务之后</a:t>
            </a:r>
            <a:r>
              <a:rPr lang="en-US" altLang="zh-CN">
                <a:sym typeface="+mn-ea"/>
              </a:rPr>
              <a:t>start</a:t>
            </a:r>
            <a:r>
              <a:rPr lang="zh-CN" altLang="en-US">
                <a:sym typeface="+mn-ea"/>
              </a:rPr>
              <a:t>，事件缓存可以先不用管，因为我也没大看。好，现在来想媒体文件分析的</a:t>
            </a:r>
            <a:r>
              <a:rPr lang="en-US" altLang="zh-CN">
                <a:sym typeface="+mn-ea"/>
              </a:rPr>
              <a:t>start</a:t>
            </a:r>
            <a:r>
              <a:rPr lang="zh-CN" altLang="en-US">
                <a:sym typeface="+mn-ea"/>
              </a:rPr>
              <a:t>需要做什么事情？刚才我们说的程序启动后等待无人机传输数据给机场，机场有了新的数据后状态发生变化，我们的程序就开始拉取图片进行分析，那我们的程序要如何才能知道机场状态发生变化并作出反应呢？对，其实思想和刚才程序收到</a:t>
            </a:r>
            <a:r>
              <a:rPr lang="en-US" altLang="zh-CN">
                <a:sym typeface="+mn-ea"/>
              </a:rPr>
              <a:t>mqtt</a:t>
            </a:r>
            <a:r>
              <a:rPr lang="zh-CN" altLang="en-US">
                <a:sym typeface="+mn-ea"/>
              </a:rPr>
              <a:t>消息并做处理是一样的，回调函数和观察者模式。好，除去事件缓存</a:t>
            </a:r>
            <a:r>
              <a:rPr lang="en-US" altLang="zh-CN">
                <a:sym typeface="+mn-ea"/>
              </a:rPr>
              <a:t>start</a:t>
            </a:r>
            <a:r>
              <a:rPr lang="zh-CN" altLang="en-US">
                <a:sym typeface="+mn-ea"/>
              </a:rPr>
              <a:t>做的第一件事就是</a:t>
            </a:r>
            <a:r>
              <a:rPr lang="en-US" altLang="zh-CN">
                <a:sym typeface="+mn-ea"/>
              </a:rPr>
              <a:t>registerMediaFilesObserver</a:t>
            </a:r>
            <a:r>
              <a:rPr lang="zh-CN" altLang="en-US">
                <a:sym typeface="+mn-ea"/>
              </a:rPr>
              <a:t>注册观察者，我们来看她是怎么注册的，首先获取</a:t>
            </a:r>
            <a:r>
              <a:rPr lang="en-US" altLang="zh-CN">
                <a:sym typeface="+mn-ea"/>
              </a:rPr>
              <a:t>MediaManager</a:t>
            </a:r>
            <a:r>
              <a:rPr lang="zh-CN" altLang="en-US">
                <a:sym typeface="+mn-ea"/>
              </a:rPr>
              <a:t>的实例，</a:t>
            </a:r>
            <a:r>
              <a:rPr lang="en-US" altLang="zh-CN">
                <a:sym typeface="+mn-ea"/>
              </a:rPr>
              <a:t>edge_sdk</a:t>
            </a:r>
            <a:r>
              <a:rPr lang="zh-CN" altLang="en-US">
                <a:sym typeface="+mn-ea"/>
              </a:rPr>
              <a:t>开头的都是大疆</a:t>
            </a:r>
            <a:r>
              <a:rPr lang="en-US" altLang="zh-CN">
                <a:sym typeface="+mn-ea"/>
              </a:rPr>
              <a:t>edge_sdk</a:t>
            </a:r>
            <a:r>
              <a:rPr lang="zh-CN" altLang="en-US">
                <a:sym typeface="+mn-ea"/>
              </a:rPr>
              <a:t>的内容，我们只需要知道他们的函数是做什么用的就可以了。</a:t>
            </a:r>
            <a:r>
              <a:rPr lang="en-US" altLang="zh-CN">
                <a:sym typeface="+mn-ea"/>
              </a:rPr>
              <a:t>MediaManager</a:t>
            </a:r>
            <a:r>
              <a:rPr lang="zh-CN" altLang="en-US">
                <a:sym typeface="+mn-ea"/>
              </a:rPr>
              <a:t>功能就是管理机场的文件。这边写的</a:t>
            </a:r>
            <a:r>
              <a:rPr lang="en-US" altLang="zh-CN">
                <a:sym typeface="+mn-ea"/>
              </a:rPr>
              <a:t>observer</a:t>
            </a:r>
            <a:r>
              <a:rPr lang="zh-CN" altLang="en-US">
                <a:sym typeface="+mn-ea"/>
              </a:rPr>
              <a:t>是一个函数，我们可以看一下这个</a:t>
            </a:r>
            <a:r>
              <a:rPr lang="en-US" altLang="zh-CN">
                <a:sym typeface="+mn-ea"/>
              </a:rPr>
              <a:t>lambda</a:t>
            </a:r>
            <a:r>
              <a:rPr lang="zh-CN" altLang="en-US">
                <a:sym typeface="+mn-ea"/>
              </a:rPr>
              <a:t>表达式，</a:t>
            </a:r>
            <a:r>
              <a:rPr lang="en-US" altLang="zh-CN">
                <a:sym typeface="+mn-ea"/>
              </a:rPr>
              <a:t>[this]</a:t>
            </a:r>
            <a:r>
              <a:rPr lang="zh-CN" altLang="en-US">
                <a:sym typeface="+mn-ea"/>
              </a:rPr>
              <a:t>中的</a:t>
            </a:r>
            <a:r>
              <a:rPr lang="en-US" altLang="zh-CN">
                <a:sym typeface="+mn-ea"/>
              </a:rPr>
              <a:t>[]</a:t>
            </a:r>
            <a:r>
              <a:rPr lang="zh-CN" altLang="en-US">
                <a:sym typeface="+mn-ea"/>
              </a:rPr>
              <a:t>叫做捕获列表，表示</a:t>
            </a:r>
            <a:r>
              <a:rPr lang="en-US" altLang="zh-CN">
                <a:sym typeface="+mn-ea"/>
              </a:rPr>
              <a:t>lambda</a:t>
            </a:r>
            <a:r>
              <a:rPr lang="zh-CN" altLang="en-US">
                <a:sym typeface="+mn-ea"/>
              </a:rPr>
              <a:t>需要访问外部</a:t>
            </a:r>
            <a:r>
              <a:rPr lang="en-US" altLang="zh-CN">
                <a:sym typeface="+mn-ea"/>
              </a:rPr>
              <a:t>(</a:t>
            </a:r>
            <a:r>
              <a:rPr lang="zh-CN" altLang="en-US">
                <a:sym typeface="+mn-ea"/>
              </a:rPr>
              <a:t>即包含这个</a:t>
            </a:r>
            <a:r>
              <a:rPr lang="en-US" altLang="zh-CN">
                <a:sym typeface="+mn-ea"/>
              </a:rPr>
              <a:t>lambda</a:t>
            </a:r>
            <a:r>
              <a:rPr lang="zh-CN" altLang="en-US">
                <a:sym typeface="+mn-ea"/>
              </a:rPr>
              <a:t>的函数或类）的哪些变量。</a:t>
            </a:r>
            <a:r>
              <a:rPr lang="en-US" altLang="zh-CN">
                <a:sym typeface="+mn-ea"/>
              </a:rPr>
              <a:t>[this]</a:t>
            </a:r>
            <a:r>
              <a:rPr lang="zh-CN" altLang="en-US">
                <a:sym typeface="+mn-ea"/>
              </a:rPr>
              <a:t>就表示</a:t>
            </a:r>
            <a:r>
              <a:rPr lang="en-US" altLang="zh-CN">
                <a:sym typeface="+mn-ea"/>
              </a:rPr>
              <a:t>lambda</a:t>
            </a:r>
            <a:r>
              <a:rPr lang="zh-CN" altLang="en-US">
                <a:sym typeface="+mn-ea"/>
              </a:rPr>
              <a:t>可以像当前对象一样访问所有的成员。</a:t>
            </a:r>
            <a:r>
              <a:rPr lang="en-US" altLang="zh-CN">
                <a:sym typeface="+mn-ea"/>
              </a:rPr>
              <a:t>const edge_sdk::MediaFile&amp; file</a:t>
            </a:r>
            <a:r>
              <a:rPr lang="zh-CN" altLang="en-US">
                <a:sym typeface="+mn-ea"/>
              </a:rPr>
              <a:t>是参数，</a:t>
            </a:r>
            <a:r>
              <a:rPr lang="en-US" altLang="zh-CN">
                <a:sym typeface="+mn-ea"/>
              </a:rPr>
              <a:t>edge_sdk::ErrorCode</a:t>
            </a:r>
            <a:r>
              <a:rPr lang="zh-CN" altLang="en-US">
                <a:sym typeface="+mn-ea"/>
              </a:rPr>
              <a:t>是返回值。</a:t>
            </a:r>
            <a:r>
              <a:rPr lang="en-US" altLang="zh-CN">
                <a:sym typeface="+mn-ea"/>
              </a:rPr>
              <a:t>mediaManager_-&gt;RegisterMediaFilesObserver(observer)</a:t>
            </a:r>
            <a:r>
              <a:rPr lang="zh-CN" altLang="en-US">
                <a:sym typeface="+mn-ea"/>
              </a:rPr>
              <a:t>就是将</a:t>
            </a:r>
            <a:r>
              <a:rPr lang="en-US" altLang="zh-CN">
                <a:sym typeface="+mn-ea"/>
              </a:rPr>
              <a:t>observer</a:t>
            </a:r>
            <a:r>
              <a:rPr lang="zh-CN" altLang="en-US">
                <a:sym typeface="+mn-ea"/>
              </a:rPr>
              <a:t>注册成了观察者，说白了就是图片更新就会调用</a:t>
            </a:r>
            <a:r>
              <a:rPr lang="en-US" altLang="zh-CN">
                <a:sym typeface="+mn-ea"/>
              </a:rPr>
              <a:t>observer</a:t>
            </a:r>
            <a:r>
              <a:rPr lang="zh-CN" altLang="en-US">
                <a:sym typeface="+mn-ea"/>
              </a:rPr>
              <a:t>这个函数。</a:t>
            </a:r>
            <a:endParaRPr lang="zh-CN" altLang="en-US">
              <a:sym typeface="+mn-ea"/>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indent="457200"/>
            <a:r>
              <a:rPr lang="zh-CN" altLang="en-US">
                <a:sym typeface="+mn-ea"/>
              </a:rPr>
              <a:t>我们收到图片之后是不是就要处理后送给检测模型分析了。那我们要如何送给检测模型呢？又如何调用检测模型检测呢？回想一下操作系统是不是学过一种生产者消费者的设计模式？我们现在这个情况是不是很适合生产者消费者模式？机场</a:t>
            </a:r>
            <a:r>
              <a:rPr lang="en-US" altLang="zh-CN">
                <a:sym typeface="+mn-ea"/>
              </a:rPr>
              <a:t>(</a:t>
            </a:r>
            <a:r>
              <a:rPr lang="zh-CN" altLang="en-US">
                <a:sym typeface="+mn-ea"/>
              </a:rPr>
              <a:t>生产者</a:t>
            </a:r>
            <a:r>
              <a:rPr lang="en-US" altLang="zh-CN">
                <a:sym typeface="+mn-ea"/>
              </a:rPr>
              <a:t>)</a:t>
            </a:r>
            <a:r>
              <a:rPr lang="zh-CN" altLang="en-US">
                <a:sym typeface="+mn-ea"/>
              </a:rPr>
              <a:t>会更新图片，检测模型</a:t>
            </a:r>
            <a:r>
              <a:rPr lang="en-US" altLang="zh-CN">
                <a:sym typeface="+mn-ea"/>
              </a:rPr>
              <a:t>(</a:t>
            </a:r>
            <a:r>
              <a:rPr lang="zh-CN" altLang="en-US">
                <a:sym typeface="+mn-ea"/>
              </a:rPr>
              <a:t>消费者</a:t>
            </a:r>
            <a:r>
              <a:rPr lang="en-US" altLang="zh-CN">
                <a:sym typeface="+mn-ea"/>
              </a:rPr>
              <a:t>)</a:t>
            </a:r>
            <a:r>
              <a:rPr lang="zh-CN" altLang="en-US">
                <a:sym typeface="+mn-ea"/>
              </a:rPr>
              <a:t>会拿走图片进行分析。我们来看看它们之间的交互具体是什么样的，首先是图片到来，</a:t>
            </a:r>
            <a:r>
              <a:rPr lang="en-US" altLang="zh-CN">
                <a:sym typeface="+mn-ea"/>
              </a:rPr>
              <a:t>observer</a:t>
            </a:r>
            <a:r>
              <a:rPr lang="zh-CN" altLang="en-US">
                <a:sym typeface="+mn-ea"/>
              </a:rPr>
              <a:t>中会调用</a:t>
            </a:r>
            <a:r>
              <a:rPr lang="en-US" altLang="zh-CN">
                <a:sym typeface="+mn-ea"/>
              </a:rPr>
              <a:t>onMediaFileUpdate</a:t>
            </a:r>
            <a:r>
              <a:rPr lang="zh-CN" altLang="en-US">
                <a:sym typeface="+mn-ea"/>
              </a:rPr>
              <a:t>，将文件放入队列，想想这里为什么会加锁？第一个原因呢是因为</a:t>
            </a:r>
            <a:r>
              <a:rPr lang="en-US" altLang="zh-CN">
                <a:sym typeface="+mn-ea"/>
              </a:rPr>
              <a:t>queue</a:t>
            </a:r>
            <a:r>
              <a:rPr lang="zh-CN" altLang="en-US">
                <a:sym typeface="+mn-ea"/>
              </a:rPr>
              <a:t>的</a:t>
            </a:r>
            <a:r>
              <a:rPr lang="en-US" altLang="zh-CN">
                <a:sym typeface="+mn-ea"/>
              </a:rPr>
              <a:t>push</a:t>
            </a:r>
            <a:r>
              <a:rPr lang="zh-CN" altLang="en-US">
                <a:sym typeface="+mn-ea"/>
              </a:rPr>
              <a:t>操作不是原子的，所以生产者在写队列的过程中如果消费者醒了去读队列可能会造成未定义行为导致崩坏；第二个原因则是可能不止一个生产者</a:t>
            </a:r>
            <a:r>
              <a:rPr lang="en-US" altLang="zh-CN">
                <a:sym typeface="+mn-ea"/>
              </a:rPr>
              <a:t>(</a:t>
            </a:r>
            <a:r>
              <a:rPr lang="zh-CN" altLang="en-US">
                <a:sym typeface="+mn-ea"/>
              </a:rPr>
              <a:t>当然我们的程序应该是只有一个生产者</a:t>
            </a:r>
            <a:r>
              <a:rPr lang="en-US" altLang="zh-CN">
                <a:sym typeface="+mn-ea"/>
              </a:rPr>
              <a:t>)</a:t>
            </a:r>
            <a:r>
              <a:rPr lang="zh-CN" altLang="en-US">
                <a:sym typeface="+mn-ea"/>
              </a:rPr>
              <a:t>，所以为了写的顺序也是要</a:t>
            </a:r>
            <a:r>
              <a:rPr lang="zh-CN" altLang="en-US">
                <a:sym typeface="+mn-ea"/>
              </a:rPr>
              <a:t>加锁的。</a:t>
            </a:r>
            <a:endParaRPr lang="zh-CN" altLang="en-US">
              <a:sym typeface="+mn-ea"/>
            </a:endParaRPr>
          </a:p>
          <a:p>
            <a:pPr indent="457200"/>
            <a:r>
              <a:rPr lang="zh-CN" altLang="en-US">
                <a:sym typeface="+mn-ea"/>
              </a:rPr>
              <a:t>我们再来看看消费者，暂停可以先不用管，多余内容。消费者会一直等待，直到等到队列非空或者是程序终止，队列非空后取出文件，开始处理。这里有没有发现一个问题，为什么生产者用的是</a:t>
            </a:r>
            <a:r>
              <a:rPr lang="en-US" altLang="zh-CN">
                <a:sym typeface="+mn-ea"/>
              </a:rPr>
              <a:t>lock_guard</a:t>
            </a:r>
            <a:r>
              <a:rPr lang="zh-CN" altLang="en-US">
                <a:sym typeface="+mn-ea"/>
              </a:rPr>
              <a:t>，而消费者用的是</a:t>
            </a:r>
            <a:r>
              <a:rPr lang="en-US" altLang="zh-CN">
                <a:sym typeface="+mn-ea"/>
              </a:rPr>
              <a:t>unique_lock</a:t>
            </a:r>
            <a:r>
              <a:rPr lang="zh-CN" altLang="en-US">
                <a:sym typeface="+mn-ea"/>
              </a:rPr>
              <a:t>？这俩有什么</a:t>
            </a:r>
            <a:r>
              <a:rPr lang="zh-CN" altLang="en-US">
                <a:sym typeface="+mn-ea"/>
              </a:rPr>
              <a:t>区别？</a:t>
            </a:r>
            <a:endParaRPr lang="zh-CN" altLang="en-US">
              <a:sym typeface="+mn-ea"/>
            </a:endParaRPr>
          </a:p>
          <a:p>
            <a:pPr indent="457200"/>
            <a:r>
              <a:rPr lang="en-US" altLang="zh-CN">
                <a:sym typeface="+mn-ea"/>
              </a:rPr>
              <a:t>lock_guard</a:t>
            </a:r>
            <a:r>
              <a:rPr lang="zh-CN" altLang="en-US">
                <a:sym typeface="+mn-ea"/>
              </a:rPr>
              <a:t>只在作用域生效，进入作用域加锁，离开作用域上锁。</a:t>
            </a:r>
            <a:r>
              <a:rPr lang="en-US" altLang="zh-CN">
                <a:sym typeface="+mn-ea"/>
              </a:rPr>
              <a:t>unique_lock</a:t>
            </a:r>
            <a:r>
              <a:rPr lang="zh-CN" altLang="en-US">
                <a:sym typeface="+mn-ea"/>
              </a:rPr>
              <a:t>则需要自己手动加锁解锁。</a:t>
            </a:r>
            <a:r>
              <a:rPr lang="en-US" altLang="zh-CN">
                <a:sym typeface="+mn-ea"/>
              </a:rPr>
              <a:t>condition_variable</a:t>
            </a:r>
            <a:r>
              <a:rPr lang="zh-CN" altLang="en-US">
                <a:sym typeface="+mn-ea"/>
              </a:rPr>
              <a:t>条件变量的作用就是生产者通知</a:t>
            </a:r>
            <a:r>
              <a:rPr lang="en-US" altLang="zh-CN">
                <a:sym typeface="+mn-ea"/>
              </a:rPr>
              <a:t>(notify)</a:t>
            </a:r>
            <a:r>
              <a:rPr lang="zh-CN" altLang="en-US">
                <a:sym typeface="+mn-ea"/>
              </a:rPr>
              <a:t>，消费者等待</a:t>
            </a:r>
            <a:r>
              <a:rPr lang="en-US" altLang="zh-CN">
                <a:sym typeface="+mn-ea"/>
              </a:rPr>
              <a:t>(wait),</a:t>
            </a:r>
            <a:r>
              <a:rPr lang="zh-CN" altLang="en-US">
                <a:sym typeface="+mn-ea"/>
              </a:rPr>
              <a:t>在</a:t>
            </a:r>
            <a:r>
              <a:rPr lang="en-US" altLang="zh-CN">
                <a:sym typeface="+mn-ea"/>
              </a:rPr>
              <a:t>wait</a:t>
            </a:r>
            <a:r>
              <a:rPr lang="zh-CN" altLang="en-US">
                <a:sym typeface="+mn-ea"/>
              </a:rPr>
              <a:t>时，会完成以下三步：解锁互斥量、休眠等待通知、被唤醒后加锁判断是否满足条件。因为</a:t>
            </a:r>
            <a:r>
              <a:rPr lang="en-US" altLang="zh-CN">
                <a:sym typeface="+mn-ea"/>
              </a:rPr>
              <a:t>lock_guard</a:t>
            </a:r>
            <a:r>
              <a:rPr lang="zh-CN" altLang="en-US">
                <a:sym typeface="+mn-ea"/>
              </a:rPr>
              <a:t>不支持中途解锁和加锁，所以就需要用</a:t>
            </a:r>
            <a:r>
              <a:rPr lang="en-US" altLang="zh-CN">
                <a:sym typeface="+mn-ea"/>
              </a:rPr>
              <a:t>unique_lock</a:t>
            </a:r>
            <a:r>
              <a:rPr lang="zh-CN" altLang="en-US">
                <a:sym typeface="+mn-ea"/>
              </a:rPr>
              <a:t>了。</a:t>
            </a:r>
            <a:endParaRPr lang="zh-CN" altLang="en-US">
              <a:sym typeface="+mn-ea"/>
            </a:endParaRPr>
          </a:p>
          <a:p>
            <a:pPr indent="457200"/>
            <a:endParaRPr lang="zh-CN" altLang="en-US">
              <a:sym typeface="+mn-ea"/>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indent="457200"/>
            <a:r>
              <a:rPr lang="zh-CN" altLang="en-US">
                <a:sym typeface="+mn-ea"/>
              </a:rPr>
              <a:t>好，我们再回来看这一句，为什么要开一个线程去跑</a:t>
            </a:r>
            <a:r>
              <a:rPr lang="en-US" altLang="zh-CN">
                <a:sym typeface="+mn-ea"/>
              </a:rPr>
              <a:t>execute</a:t>
            </a:r>
            <a:r>
              <a:rPr lang="zh-CN" altLang="en-US">
                <a:sym typeface="+mn-ea"/>
              </a:rPr>
              <a:t>？</a:t>
            </a:r>
            <a:r>
              <a:rPr lang="en-US" altLang="zh-CN">
                <a:sym typeface="+mn-ea"/>
              </a:rPr>
              <a:t>execute</a:t>
            </a:r>
            <a:r>
              <a:rPr lang="zh-CN" altLang="en-US">
                <a:sym typeface="+mn-ea"/>
              </a:rPr>
              <a:t>就是我们刚才看的消费者线程。如果不开一个线程的话，那当前的线程又是生产者又是消费者，线程拿到图片去推理之后程序就会一直阻塞到这里了，后面的图片就可能得不到及时的</a:t>
            </a:r>
            <a:r>
              <a:rPr lang="zh-CN" altLang="en-US">
                <a:sym typeface="+mn-ea"/>
              </a:rPr>
              <a:t>处理。所以一个线程存，一个线程取才是</a:t>
            </a:r>
            <a:r>
              <a:rPr lang="zh-CN" altLang="en-US">
                <a:sym typeface="+mn-ea"/>
              </a:rPr>
              <a:t>正解。</a:t>
            </a:r>
            <a:endParaRPr lang="zh-CN" altLang="en-US">
              <a:sym typeface="+mn-ea"/>
            </a:endParaRPr>
          </a:p>
          <a:p>
            <a:pPr indent="457200"/>
            <a:r>
              <a:rPr lang="zh-CN" altLang="en-US">
                <a:sym typeface="+mn-ea"/>
              </a:rPr>
              <a:t>接下来我们去看</a:t>
            </a:r>
            <a:r>
              <a:rPr lang="en-US" altLang="zh-CN">
                <a:sym typeface="+mn-ea"/>
              </a:rPr>
              <a:t>processFile</a:t>
            </a:r>
            <a:r>
              <a:rPr lang="zh-CN" altLang="en-US">
                <a:sym typeface="+mn-ea"/>
              </a:rPr>
              <a:t>，该函数功能是解码图片，解析元数据</a:t>
            </a:r>
            <a:r>
              <a:rPr lang="en-US" altLang="zh-CN">
                <a:sym typeface="+mn-ea"/>
              </a:rPr>
              <a:t>(</a:t>
            </a:r>
            <a:r>
              <a:rPr lang="zh-CN" altLang="en-US">
                <a:sym typeface="+mn-ea"/>
              </a:rPr>
              <a:t>主要是经纬度</a:t>
            </a:r>
            <a:r>
              <a:rPr lang="en-US" altLang="zh-CN">
                <a:sym typeface="+mn-ea"/>
              </a:rPr>
              <a:t>)</a:t>
            </a:r>
            <a:r>
              <a:rPr lang="zh-CN" altLang="en-US">
                <a:sym typeface="+mn-ea"/>
              </a:rPr>
              <a:t>，调用</a:t>
            </a:r>
            <a:r>
              <a:rPr lang="en-US" altLang="zh-CN">
                <a:sym typeface="+mn-ea"/>
              </a:rPr>
              <a:t> TaskService </a:t>
            </a:r>
            <a:r>
              <a:rPr lang="zh-CN" altLang="en-US">
                <a:sym typeface="+mn-ea"/>
              </a:rPr>
              <a:t>进行目标检测。加下来我们看</a:t>
            </a:r>
            <a:r>
              <a:rPr lang="en-US" altLang="zh-CN">
                <a:sym typeface="+mn-ea"/>
              </a:rPr>
              <a:t>processFrame</a:t>
            </a:r>
            <a:r>
              <a:rPr lang="zh-CN" altLang="en-US">
                <a:sym typeface="+mn-ea"/>
              </a:rPr>
              <a:t>里面做了什么，该函数其实就是做了一个判断，下面我们再看看</a:t>
            </a:r>
            <a:r>
              <a:rPr lang="en-US" altLang="zh-CN">
                <a:sym typeface="+mn-ea"/>
              </a:rPr>
              <a:t>processDetection</a:t>
            </a:r>
            <a:r>
              <a:rPr lang="zh-CN" altLang="en-US">
                <a:sym typeface="+mn-ea"/>
              </a:rPr>
              <a:t>里面是如何做的，该函数做了三件事情，执行推理、构建事件和发布事件，我们首先看</a:t>
            </a:r>
            <a:r>
              <a:rPr lang="en-US" altLang="zh-CN">
                <a:sym typeface="+mn-ea"/>
              </a:rPr>
              <a:t>detectObjects</a:t>
            </a:r>
            <a:r>
              <a:rPr lang="zh-CN" altLang="en-US">
                <a:sym typeface="+mn-ea"/>
              </a:rPr>
              <a:t>，函数里面是调用</a:t>
            </a:r>
            <a:r>
              <a:rPr lang="en-US" altLang="zh-CN">
                <a:sym typeface="+mn-ea"/>
              </a:rPr>
              <a:t>detector-&gt;detect(frame);</a:t>
            </a:r>
            <a:r>
              <a:rPr lang="zh-CN" altLang="en-US">
                <a:sym typeface="+mn-ea"/>
              </a:rPr>
              <a:t>来进行推理的，</a:t>
            </a:r>
            <a:r>
              <a:rPr lang="en-US" altLang="zh-CN">
                <a:sym typeface="+mn-ea"/>
              </a:rPr>
              <a:t>detector</a:t>
            </a:r>
            <a:r>
              <a:rPr lang="zh-CN" altLang="en-US">
                <a:sym typeface="+mn-ea"/>
              </a:rPr>
              <a:t>是什么呢，我们这里显示的是</a:t>
            </a:r>
            <a:r>
              <a:rPr lang="en-US" altLang="zh-CN">
                <a:sym typeface="+mn-ea"/>
              </a:rPr>
              <a:t>IDetector</a:t>
            </a:r>
            <a:r>
              <a:rPr lang="zh-CN" altLang="en-US">
                <a:sym typeface="+mn-ea"/>
              </a:rPr>
              <a:t>的对象，为什么点进去是</a:t>
            </a:r>
            <a:r>
              <a:rPr lang="en-US" altLang="zh-CN">
                <a:sym typeface="+mn-ea"/>
              </a:rPr>
              <a:t>ppyoloE</a:t>
            </a:r>
            <a:r>
              <a:rPr lang="zh-CN" altLang="en-US">
                <a:sym typeface="+mn-ea"/>
              </a:rPr>
              <a:t>的</a:t>
            </a:r>
            <a:r>
              <a:rPr lang="en-US" altLang="zh-CN">
                <a:sym typeface="+mn-ea"/>
              </a:rPr>
              <a:t>detector</a:t>
            </a:r>
            <a:r>
              <a:rPr lang="zh-CN" altLang="en-US">
                <a:sym typeface="+mn-ea"/>
              </a:rPr>
              <a:t>函数呢？答案就是在程序进行初始化时就会根据配置文件中的指定字符串来初始化相应的检测器。接下来的预处理，推理，后处理，这些都是常规事情就不再多说了，刚才的消息中只有这几种类别，所以我们要对检测出来的目标进行过滤，只留下指定的类别。过滤就是根据</a:t>
            </a:r>
            <a:r>
              <a:rPr lang="en-US" altLang="zh-CN">
                <a:sym typeface="+mn-ea"/>
              </a:rPr>
              <a:t>coco.names</a:t>
            </a:r>
            <a:r>
              <a:rPr lang="zh-CN" altLang="en-US">
                <a:sym typeface="+mn-ea"/>
              </a:rPr>
              <a:t>将类别转化为</a:t>
            </a:r>
            <a:r>
              <a:rPr lang="en-US" altLang="zh-CN">
                <a:sym typeface="+mn-ea"/>
              </a:rPr>
              <a:t>id</a:t>
            </a:r>
            <a:r>
              <a:rPr lang="zh-CN" altLang="en-US">
                <a:sym typeface="+mn-ea"/>
              </a:rPr>
              <a:t>，如果</a:t>
            </a:r>
            <a:r>
              <a:rPr lang="en-US" altLang="zh-CN">
                <a:sym typeface="+mn-ea"/>
              </a:rPr>
              <a:t>box.classId</a:t>
            </a:r>
            <a:r>
              <a:rPr lang="zh-CN" altLang="en-US">
                <a:sym typeface="+mn-ea"/>
              </a:rPr>
              <a:t>在</a:t>
            </a:r>
            <a:r>
              <a:rPr lang="en-US" altLang="zh-CN">
                <a:sym typeface="+mn-ea"/>
              </a:rPr>
              <a:t>targetClassIds</a:t>
            </a:r>
            <a:r>
              <a:rPr lang="zh-CN" altLang="en-US">
                <a:sym typeface="+mn-ea"/>
              </a:rPr>
              <a:t>里面就说明本次任务包括该目标，可以放进过滤好的</a:t>
            </a:r>
            <a:r>
              <a:rPr lang="en-US" altLang="zh-CN">
                <a:sym typeface="+mn-ea"/>
              </a:rPr>
              <a:t>filtered</a:t>
            </a:r>
            <a:r>
              <a:rPr lang="zh-CN" altLang="en-US">
                <a:sym typeface="+mn-ea"/>
              </a:rPr>
              <a:t>中。</a:t>
            </a:r>
            <a:endParaRPr lang="zh-CN" altLang="en-US">
              <a:sym typeface="+mn-ea"/>
            </a:endParaRPr>
          </a:p>
          <a:p>
            <a:pPr indent="457200"/>
            <a:r>
              <a:rPr lang="zh-CN" altLang="en-US">
                <a:sym typeface="+mn-ea"/>
              </a:rPr>
              <a:t>之后就是构建事件，求经纬度、根据</a:t>
            </a:r>
            <a:r>
              <a:rPr lang="en-US" altLang="zh-CN">
                <a:sym typeface="+mn-ea"/>
              </a:rPr>
              <a:t>bboxes</a:t>
            </a:r>
            <a:r>
              <a:rPr lang="zh-CN" altLang="en-US">
                <a:sym typeface="+mn-ea"/>
              </a:rPr>
              <a:t>绘制可视化图片，构建事件，发布</a:t>
            </a:r>
            <a:r>
              <a:rPr lang="zh-CN" altLang="en-US">
                <a:sym typeface="+mn-ea"/>
              </a:rPr>
              <a:t>事件。</a:t>
            </a:r>
            <a:endParaRPr lang="zh-CN" altLang="en-US">
              <a:sym typeface="+mn-ea"/>
            </a:endParaRPr>
          </a:p>
          <a:p>
            <a:pPr indent="457200"/>
            <a:r>
              <a:rPr lang="zh-CN" altLang="en-US">
                <a:sym typeface="+mn-ea"/>
              </a:rPr>
              <a:t>好，媒体文件分析已经差不多处理完了，我们再来看视频流有哪些</a:t>
            </a:r>
            <a:r>
              <a:rPr lang="zh-CN" altLang="en-US">
                <a:sym typeface="+mn-ea"/>
              </a:rPr>
              <a:t>需要注意的事情。</a:t>
            </a:r>
            <a:endParaRPr lang="zh-CN" altLang="en-US">
              <a:sym typeface="+mn-ea"/>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indent="457200"/>
            <a:r>
              <a:rPr lang="zh-CN" altLang="en-US">
                <a:sym typeface="+mn-ea"/>
              </a:rPr>
              <a:t>接下来我们看媒体文件的最后一步，如何结束。由于</a:t>
            </a:r>
            <a:r>
              <a:rPr lang="en-US" altLang="zh-CN">
                <a:sym typeface="+mn-ea"/>
              </a:rPr>
              <a:t>ESDK</a:t>
            </a:r>
            <a:r>
              <a:rPr lang="zh-CN" altLang="en-US">
                <a:sym typeface="+mn-ea"/>
              </a:rPr>
              <a:t>好像并没有给出明确的结束函数，但是我们可以自己想一个，即：从收到图片开始我们就启动一个定时器开始计时，之后只要收到图片就刷新计时器，如果定时器结束那么就认为此次媒体分析文件任务结束。</a:t>
            </a:r>
            <a:r>
              <a:rPr lang="en-US" altLang="zh-CN">
                <a:sym typeface="+mn-ea"/>
              </a:rPr>
              <a:t>monitorThread_</a:t>
            </a:r>
            <a:r>
              <a:rPr lang="zh-CN" altLang="en-US">
                <a:sym typeface="+mn-ea"/>
              </a:rPr>
              <a:t>就是我们的监控线程，</a:t>
            </a:r>
            <a:r>
              <a:rPr lang="en-US" altLang="zh-CN">
                <a:sym typeface="+mn-ea"/>
              </a:rPr>
              <a:t>monitorLoop</a:t>
            </a:r>
            <a:r>
              <a:rPr lang="zh-CN" altLang="en-US">
                <a:sym typeface="+mn-ea"/>
              </a:rPr>
              <a:t>中会一直调用</a:t>
            </a:r>
            <a:r>
              <a:rPr lang="en-US" altLang="zh-CN">
                <a:sym typeface="+mn-ea"/>
              </a:rPr>
              <a:t>shouldComplete</a:t>
            </a:r>
            <a:r>
              <a:rPr lang="zh-CN" altLang="en-US">
                <a:sym typeface="+mn-ea"/>
              </a:rPr>
              <a:t>来判断定时器是否已经结束。任务结束后呢，推送消息，清理文件，</a:t>
            </a:r>
            <a:r>
              <a:rPr lang="zh-CN" altLang="en-US">
                <a:sym typeface="+mn-ea"/>
              </a:rPr>
              <a:t>恢复设置</a:t>
            </a:r>
            <a:endParaRPr lang="zh-CN" altLang="en-US">
              <a:sym typeface="+mn-ea"/>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indent="457200"/>
            <a:r>
              <a:rPr lang="zh-CN" altLang="en-US">
                <a:sym typeface="+mn-ea"/>
              </a:rPr>
              <a:t>好，媒体文件分析已经差不多处理完了，我们再来看视频流有哪些需要注意的事情。直接看</a:t>
            </a:r>
            <a:r>
              <a:rPr lang="en-US" altLang="zh-CN">
                <a:sym typeface="+mn-ea"/>
              </a:rPr>
              <a:t>start</a:t>
            </a:r>
            <a:r>
              <a:rPr lang="zh-CN" altLang="en-US">
                <a:sym typeface="+mn-ea"/>
              </a:rPr>
              <a:t>，首先初始化视频流中的</a:t>
            </a:r>
            <a:r>
              <a:rPr lang="en-US" altLang="zh-CN">
                <a:sym typeface="+mn-ea"/>
              </a:rPr>
              <a:t>CreateLiveview</a:t>
            </a:r>
            <a:r>
              <a:rPr lang="zh-CN" altLang="en-US">
                <a:sym typeface="+mn-ea"/>
              </a:rPr>
              <a:t>函数，创建了一个</a:t>
            </a:r>
            <a:r>
              <a:rPr lang="en-US" altLang="zh-CN">
                <a:sym typeface="+mn-ea"/>
              </a:rPr>
              <a:t>LiveView</a:t>
            </a:r>
            <a:r>
              <a:rPr lang="zh-CN" altLang="en-US">
                <a:sym typeface="+mn-ea"/>
              </a:rPr>
              <a:t>实例，重点是</a:t>
            </a:r>
            <a:r>
              <a:rPr lang="en-US" altLang="zh-CN">
                <a:sym typeface="+mn-ea"/>
              </a:rPr>
              <a:t>options.callback = ProxyH264Callback;</a:t>
            </a:r>
            <a:r>
              <a:rPr lang="zh-CN" altLang="en-US">
                <a:sym typeface="+mn-ea"/>
              </a:rPr>
              <a:t>这一句话，这个就是视频流来了就会调用</a:t>
            </a:r>
            <a:r>
              <a:rPr lang="en-US" altLang="zh-CN">
                <a:sym typeface="+mn-ea"/>
              </a:rPr>
              <a:t>ProxyH264Callback</a:t>
            </a:r>
            <a:r>
              <a:rPr lang="zh-CN" altLang="en-US">
                <a:sym typeface="+mn-ea"/>
              </a:rPr>
              <a:t>函数，最后到</a:t>
            </a:r>
            <a:r>
              <a:rPr lang="en-US" altLang="zh-CN">
                <a:sym typeface="+mn-ea"/>
              </a:rPr>
              <a:t>onH264Data</a:t>
            </a:r>
            <a:r>
              <a:rPr lang="zh-CN" altLang="en-US">
                <a:sym typeface="+mn-ea"/>
              </a:rPr>
              <a:t>，说白了就和之前的媒体分析一样，作为生产者将视频流放入队列。之后</a:t>
            </a:r>
            <a:r>
              <a:rPr lang="en-US" altLang="zh-CN">
                <a:sym typeface="+mn-ea"/>
              </a:rPr>
              <a:t>StartH264Stream</a:t>
            </a:r>
            <a:r>
              <a:rPr lang="zh-CN" altLang="en-US">
                <a:sym typeface="+mn-ea"/>
              </a:rPr>
              <a:t>开始启动视频流。后面的创建工作线程</a:t>
            </a:r>
            <a:r>
              <a:rPr lang="en-US" altLang="zh-CN">
                <a:sym typeface="+mn-ea"/>
              </a:rPr>
              <a:t>execute</a:t>
            </a:r>
            <a:r>
              <a:rPr lang="zh-CN" altLang="en-US">
                <a:sym typeface="+mn-ea"/>
              </a:rPr>
              <a:t>就是做的消费者的事情。注意看这里，</a:t>
            </a:r>
            <a:r>
              <a:rPr lang="en-US" altLang="zh-CN">
                <a:sym typeface="+mn-ea"/>
              </a:rPr>
              <a:t>decode</a:t>
            </a:r>
            <a:r>
              <a:rPr lang="zh-CN" altLang="en-US">
                <a:sym typeface="+mn-ea"/>
              </a:rPr>
              <a:t>解码后</a:t>
            </a:r>
            <a:r>
              <a:rPr lang="en-US" altLang="zh-CN">
                <a:sym typeface="+mn-ea"/>
              </a:rPr>
              <a:t>frame</a:t>
            </a:r>
            <a:r>
              <a:rPr lang="zh-CN" altLang="en-US">
                <a:sym typeface="+mn-ea"/>
              </a:rPr>
              <a:t>直接引用了</a:t>
            </a:r>
            <a:r>
              <a:rPr lang="en-US" altLang="zh-CN">
                <a:sym typeface="+mn-ea"/>
              </a:rPr>
              <a:t>decodedFrame</a:t>
            </a:r>
            <a:r>
              <a:rPr lang="zh-CN" altLang="en-US">
                <a:sym typeface="+mn-ea"/>
              </a:rPr>
              <a:t>，之后将</a:t>
            </a:r>
            <a:r>
              <a:rPr lang="en-US" altLang="zh-CN">
                <a:sym typeface="+mn-ea"/>
              </a:rPr>
              <a:t>frame</a:t>
            </a:r>
            <a:r>
              <a:rPr lang="zh-CN" altLang="en-US">
                <a:sym typeface="+mn-ea"/>
              </a:rPr>
              <a:t>拷贝给了</a:t>
            </a:r>
            <a:r>
              <a:rPr lang="en-US" altLang="zh-CN">
                <a:sym typeface="+mn-ea"/>
              </a:rPr>
              <a:t>detectionInputFrame_</a:t>
            </a:r>
            <a:r>
              <a:rPr lang="zh-CN" altLang="en-US">
                <a:sym typeface="+mn-ea"/>
              </a:rPr>
              <a:t>，之后再将</a:t>
            </a:r>
            <a:r>
              <a:rPr lang="en-US" altLang="zh-CN">
                <a:sym typeface="+mn-ea"/>
              </a:rPr>
              <a:t>detectionInputFrame_</a:t>
            </a:r>
            <a:r>
              <a:rPr lang="zh-CN" altLang="en-US">
                <a:sym typeface="+mn-ea"/>
              </a:rPr>
              <a:t>拷贝给了</a:t>
            </a:r>
            <a:r>
              <a:rPr lang="en-US" altLang="zh-CN">
                <a:sym typeface="+mn-ea"/>
              </a:rPr>
              <a:t>processFrame</a:t>
            </a:r>
            <a:r>
              <a:rPr lang="zh-CN" altLang="en-US">
                <a:sym typeface="+mn-ea"/>
              </a:rPr>
              <a:t>，为什么这么做？如图中所示，解码出视频帧后，</a:t>
            </a:r>
            <a:r>
              <a:rPr lang="en-US" altLang="zh-CN">
                <a:sym typeface="+mn-ea"/>
              </a:rPr>
              <a:t>frame</a:t>
            </a:r>
            <a:r>
              <a:rPr lang="zh-CN" altLang="en-US">
                <a:sym typeface="+mn-ea"/>
              </a:rPr>
              <a:t>就会把最新的帧放在共享缓冲区，检测线程分析完当前帧后，就会去共享缓冲区拿最新的帧，这样可以保证生产者可以持续的接收视频帧，而且线程是安全的，两个线程不会同时对同一张视频帧读写。并且这里有一个</a:t>
            </a:r>
            <a:r>
              <a:rPr lang="en-US" altLang="zh-CN">
                <a:sym typeface="+mn-ea"/>
              </a:rPr>
              <a:t>try_to_lock</a:t>
            </a:r>
            <a:r>
              <a:rPr lang="zh-CN" altLang="en-US">
                <a:sym typeface="+mn-ea"/>
              </a:rPr>
              <a:t>，表示如果检测线程忙，该帧就直接</a:t>
            </a:r>
            <a:r>
              <a:rPr lang="zh-CN" altLang="en-US">
                <a:sym typeface="+mn-ea"/>
              </a:rPr>
              <a:t>跳过。</a:t>
            </a:r>
            <a:endParaRPr lang="zh-CN" altLang="en-US">
              <a:sym typeface="+mn-ea"/>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10" name="图片占位符 9"/>
          <p:cNvSpPr>
            <a:spLocks noGrp="1"/>
          </p:cNvSpPr>
          <p:nvPr>
            <p:ph type="pic" sz="quarter" idx="10"/>
          </p:nvPr>
        </p:nvSpPr>
        <p:spPr>
          <a:xfrm>
            <a:off x="1413036" y="1986039"/>
            <a:ext cx="2864878" cy="2456948"/>
          </a:xfrm>
          <a:custGeom>
            <a:avLst/>
            <a:gdLst>
              <a:gd name="connsiteX0" fmla="*/ 614238 w 2864878"/>
              <a:gd name="connsiteY0" fmla="*/ 0 h 2456948"/>
              <a:gd name="connsiteX1" fmla="*/ 2250641 w 2864878"/>
              <a:gd name="connsiteY1" fmla="*/ 0 h 2456948"/>
              <a:gd name="connsiteX2" fmla="*/ 2864878 w 2864878"/>
              <a:gd name="connsiteY2" fmla="*/ 1228474 h 2456948"/>
              <a:gd name="connsiteX3" fmla="*/ 2250641 w 2864878"/>
              <a:gd name="connsiteY3" fmla="*/ 2456948 h 2456948"/>
              <a:gd name="connsiteX4" fmla="*/ 614238 w 2864878"/>
              <a:gd name="connsiteY4" fmla="*/ 2456948 h 2456948"/>
              <a:gd name="connsiteX5" fmla="*/ 0 w 2864878"/>
              <a:gd name="connsiteY5" fmla="*/ 1228474 h 2456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64878" h="2456948">
                <a:moveTo>
                  <a:pt x="614238" y="0"/>
                </a:moveTo>
                <a:lnTo>
                  <a:pt x="2250641" y="0"/>
                </a:lnTo>
                <a:lnTo>
                  <a:pt x="2864878" y="1228474"/>
                </a:lnTo>
                <a:lnTo>
                  <a:pt x="2250641" y="2456948"/>
                </a:lnTo>
                <a:lnTo>
                  <a:pt x="614238" y="2456948"/>
                </a:lnTo>
                <a:lnTo>
                  <a:pt x="0" y="1228474"/>
                </a:lnTo>
                <a:close/>
              </a:path>
            </a:pathLst>
          </a:custGeom>
        </p:spPr>
        <p:txBody>
          <a:bodyPr wrap="square">
            <a:noAutofit/>
          </a:bodyPr>
          <a:lstStyle/>
          <a:p>
            <a:endParaRPr lang="zh-CN" altLang="en-US"/>
          </a:p>
        </p:txBody>
      </p:sp>
      <p:sp>
        <p:nvSpPr>
          <p:cNvPr id="11" name="图片占位符 10"/>
          <p:cNvSpPr>
            <a:spLocks noGrp="1"/>
          </p:cNvSpPr>
          <p:nvPr>
            <p:ph type="pic" sz="quarter" idx="11"/>
          </p:nvPr>
        </p:nvSpPr>
        <p:spPr>
          <a:xfrm>
            <a:off x="4670586" y="1986039"/>
            <a:ext cx="2864878" cy="2456948"/>
          </a:xfrm>
          <a:custGeom>
            <a:avLst/>
            <a:gdLst>
              <a:gd name="connsiteX0" fmla="*/ 614238 w 2864878"/>
              <a:gd name="connsiteY0" fmla="*/ 0 h 2456948"/>
              <a:gd name="connsiteX1" fmla="*/ 2250641 w 2864878"/>
              <a:gd name="connsiteY1" fmla="*/ 0 h 2456948"/>
              <a:gd name="connsiteX2" fmla="*/ 2864878 w 2864878"/>
              <a:gd name="connsiteY2" fmla="*/ 1228474 h 2456948"/>
              <a:gd name="connsiteX3" fmla="*/ 2250641 w 2864878"/>
              <a:gd name="connsiteY3" fmla="*/ 2456948 h 2456948"/>
              <a:gd name="connsiteX4" fmla="*/ 614238 w 2864878"/>
              <a:gd name="connsiteY4" fmla="*/ 2456948 h 2456948"/>
              <a:gd name="connsiteX5" fmla="*/ 0 w 2864878"/>
              <a:gd name="connsiteY5" fmla="*/ 1228474 h 2456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64878" h="2456948">
                <a:moveTo>
                  <a:pt x="614238" y="0"/>
                </a:moveTo>
                <a:lnTo>
                  <a:pt x="2250641" y="0"/>
                </a:lnTo>
                <a:lnTo>
                  <a:pt x="2864878" y="1228474"/>
                </a:lnTo>
                <a:lnTo>
                  <a:pt x="2250641" y="2456948"/>
                </a:lnTo>
                <a:lnTo>
                  <a:pt x="614238" y="2456948"/>
                </a:lnTo>
                <a:lnTo>
                  <a:pt x="0" y="1228474"/>
                </a:lnTo>
                <a:close/>
              </a:path>
            </a:pathLst>
          </a:custGeom>
        </p:spPr>
        <p:txBody>
          <a:bodyPr wrap="square">
            <a:noAutofit/>
          </a:bodyPr>
          <a:lstStyle/>
          <a:p>
            <a:endParaRPr lang="zh-CN" altLang="en-US"/>
          </a:p>
        </p:txBody>
      </p:sp>
      <p:sp>
        <p:nvSpPr>
          <p:cNvPr id="12" name="图片占位符 11"/>
          <p:cNvSpPr>
            <a:spLocks noGrp="1"/>
          </p:cNvSpPr>
          <p:nvPr>
            <p:ph type="pic" sz="quarter" idx="12"/>
          </p:nvPr>
        </p:nvSpPr>
        <p:spPr>
          <a:xfrm>
            <a:off x="7928136" y="1986039"/>
            <a:ext cx="2864878" cy="2456948"/>
          </a:xfrm>
          <a:custGeom>
            <a:avLst/>
            <a:gdLst>
              <a:gd name="connsiteX0" fmla="*/ 614238 w 2864878"/>
              <a:gd name="connsiteY0" fmla="*/ 0 h 2456948"/>
              <a:gd name="connsiteX1" fmla="*/ 2250641 w 2864878"/>
              <a:gd name="connsiteY1" fmla="*/ 0 h 2456948"/>
              <a:gd name="connsiteX2" fmla="*/ 2864878 w 2864878"/>
              <a:gd name="connsiteY2" fmla="*/ 1228474 h 2456948"/>
              <a:gd name="connsiteX3" fmla="*/ 2250641 w 2864878"/>
              <a:gd name="connsiteY3" fmla="*/ 2456948 h 2456948"/>
              <a:gd name="connsiteX4" fmla="*/ 614238 w 2864878"/>
              <a:gd name="connsiteY4" fmla="*/ 2456948 h 2456948"/>
              <a:gd name="connsiteX5" fmla="*/ 0 w 2864878"/>
              <a:gd name="connsiteY5" fmla="*/ 1228474 h 2456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64878" h="2456948">
                <a:moveTo>
                  <a:pt x="614238" y="0"/>
                </a:moveTo>
                <a:lnTo>
                  <a:pt x="2250641" y="0"/>
                </a:lnTo>
                <a:lnTo>
                  <a:pt x="2864878" y="1228474"/>
                </a:lnTo>
                <a:lnTo>
                  <a:pt x="2250641" y="2456948"/>
                </a:lnTo>
                <a:lnTo>
                  <a:pt x="614238" y="2456948"/>
                </a:lnTo>
                <a:lnTo>
                  <a:pt x="0" y="1228474"/>
                </a:lnTo>
                <a:close/>
              </a:path>
            </a:pathLst>
          </a:custGeom>
        </p:spPr>
        <p:txBody>
          <a:bodyPr wrap="square">
            <a:noAutofit/>
          </a:bodyPr>
          <a:lstStyle/>
          <a:p>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9" Type="http://schemas.openxmlformats.org/officeDocument/2006/relationships/tags" Target="../tags/tag3.xml"/><Relationship Id="rId8" Type="http://schemas.openxmlformats.org/officeDocument/2006/relationships/image" Target="../media/image7.svg"/><Relationship Id="rId7" Type="http://schemas.openxmlformats.org/officeDocument/2006/relationships/image" Target="../media/image6.png"/><Relationship Id="rId6" Type="http://schemas.openxmlformats.org/officeDocument/2006/relationships/tags" Target="../tags/tag2.xml"/><Relationship Id="rId5" Type="http://schemas.openxmlformats.org/officeDocument/2006/relationships/image" Target="../media/image5.svg"/><Relationship Id="rId4" Type="http://schemas.openxmlformats.org/officeDocument/2006/relationships/image" Target="../media/image4.png"/><Relationship Id="rId3" Type="http://schemas.openxmlformats.org/officeDocument/2006/relationships/image" Target="../media/image3.svg"/><Relationship Id="rId20" Type="http://schemas.openxmlformats.org/officeDocument/2006/relationships/notesSlide" Target="../notesSlides/notesSlide5.xml"/><Relationship Id="rId2" Type="http://schemas.openxmlformats.org/officeDocument/2006/relationships/image" Target="../media/image2.png"/><Relationship Id="rId19" Type="http://schemas.openxmlformats.org/officeDocument/2006/relationships/slideLayout" Target="../slideLayouts/slideLayout1.xml"/><Relationship Id="rId18" Type="http://schemas.openxmlformats.org/officeDocument/2006/relationships/tags" Target="../tags/tag12.xml"/><Relationship Id="rId17" Type="http://schemas.openxmlformats.org/officeDocument/2006/relationships/tags" Target="../tags/tag11.xml"/><Relationship Id="rId16" Type="http://schemas.openxmlformats.org/officeDocument/2006/relationships/tags" Target="../tags/tag10.xml"/><Relationship Id="rId15" Type="http://schemas.openxmlformats.org/officeDocument/2006/relationships/tags" Target="../tags/tag9.xml"/><Relationship Id="rId14" Type="http://schemas.openxmlformats.org/officeDocument/2006/relationships/tags" Target="../tags/tag8.xml"/><Relationship Id="rId13" Type="http://schemas.openxmlformats.org/officeDocument/2006/relationships/tags" Target="../tags/tag7.xml"/><Relationship Id="rId12" Type="http://schemas.openxmlformats.org/officeDocument/2006/relationships/tags" Target="../tags/tag6.xml"/><Relationship Id="rId11" Type="http://schemas.openxmlformats.org/officeDocument/2006/relationships/tags" Target="../tags/tag5.xml"/><Relationship Id="rId10" Type="http://schemas.openxmlformats.org/officeDocument/2006/relationships/tags" Target="../tags/tag4.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9" Type="http://schemas.openxmlformats.org/officeDocument/2006/relationships/tags" Target="../tags/tag15.xml"/><Relationship Id="rId8" Type="http://schemas.openxmlformats.org/officeDocument/2006/relationships/image" Target="../media/image10.svg"/><Relationship Id="rId7" Type="http://schemas.openxmlformats.org/officeDocument/2006/relationships/image" Target="../media/image6.png"/><Relationship Id="rId6" Type="http://schemas.openxmlformats.org/officeDocument/2006/relationships/tags" Target="../tags/tag14.xml"/><Relationship Id="rId5" Type="http://schemas.openxmlformats.org/officeDocument/2006/relationships/image" Target="../media/image9.svg"/><Relationship Id="rId4" Type="http://schemas.openxmlformats.org/officeDocument/2006/relationships/image" Target="../media/image4.png"/><Relationship Id="rId3" Type="http://schemas.openxmlformats.org/officeDocument/2006/relationships/image" Target="../media/image8.svg"/><Relationship Id="rId20" Type="http://schemas.openxmlformats.org/officeDocument/2006/relationships/notesSlide" Target="../notesSlides/notesSlide6.xml"/><Relationship Id="rId2" Type="http://schemas.openxmlformats.org/officeDocument/2006/relationships/image" Target="../media/image2.png"/><Relationship Id="rId19" Type="http://schemas.openxmlformats.org/officeDocument/2006/relationships/slideLayout" Target="../slideLayouts/slideLayout1.xml"/><Relationship Id="rId18" Type="http://schemas.openxmlformats.org/officeDocument/2006/relationships/tags" Target="../tags/tag24.xml"/><Relationship Id="rId17" Type="http://schemas.openxmlformats.org/officeDocument/2006/relationships/tags" Target="../tags/tag23.xml"/><Relationship Id="rId16" Type="http://schemas.openxmlformats.org/officeDocument/2006/relationships/tags" Target="../tags/tag22.xml"/><Relationship Id="rId15" Type="http://schemas.openxmlformats.org/officeDocument/2006/relationships/tags" Target="../tags/tag21.xml"/><Relationship Id="rId14" Type="http://schemas.openxmlformats.org/officeDocument/2006/relationships/tags" Target="../tags/tag20.xml"/><Relationship Id="rId13" Type="http://schemas.openxmlformats.org/officeDocument/2006/relationships/tags" Target="../tags/tag19.xml"/><Relationship Id="rId12" Type="http://schemas.openxmlformats.org/officeDocument/2006/relationships/tags" Target="../tags/tag18.xml"/><Relationship Id="rId11" Type="http://schemas.openxmlformats.org/officeDocument/2006/relationships/tags" Target="../tags/tag17.xml"/><Relationship Id="rId10" Type="http://schemas.openxmlformats.org/officeDocument/2006/relationships/tags" Target="../tags/tag16.xml"/><Relationship Id="rId1" Type="http://schemas.openxmlformats.org/officeDocument/2006/relationships/tags" Target="../tags/tag1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xml"/><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image" Target="../media/image14.svg"/><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1.xml"/><Relationship Id="rId4" Type="http://schemas.openxmlformats.org/officeDocument/2006/relationships/image" Target="../media/image9.svg"/><Relationship Id="rId3" Type="http://schemas.openxmlformats.org/officeDocument/2006/relationships/image" Target="../media/image4.png"/><Relationship Id="rId2" Type="http://schemas.openxmlformats.org/officeDocument/2006/relationships/image" Target="../media/image15.svg"/><Relationship Id="rId1"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圆角矩形 3"/>
          <p:cNvSpPr/>
          <p:nvPr/>
        </p:nvSpPr>
        <p:spPr>
          <a:xfrm>
            <a:off x="942975" y="4828540"/>
            <a:ext cx="1530350" cy="1028065"/>
          </a:xfrm>
          <a:prstGeom prst="roundRect">
            <a:avLst/>
          </a:prstGeom>
          <a:solidFill>
            <a:schemeClr val="accent5">
              <a:lumMod val="60000"/>
              <a:lumOff val="40000"/>
            </a:schemeClr>
          </a:solidFill>
          <a:ln>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盒子</a:t>
            </a:r>
            <a:endParaRPr lang="zh-CN" altLang="en-US"/>
          </a:p>
        </p:txBody>
      </p:sp>
      <p:sp>
        <p:nvSpPr>
          <p:cNvPr id="7" name="圆角矩形 6"/>
          <p:cNvSpPr/>
          <p:nvPr/>
        </p:nvSpPr>
        <p:spPr>
          <a:xfrm>
            <a:off x="3512185" y="4828540"/>
            <a:ext cx="1530350" cy="1028065"/>
          </a:xfrm>
          <a:prstGeom prst="roundRect">
            <a:avLst/>
          </a:prstGeom>
          <a:solidFill>
            <a:schemeClr val="accent5">
              <a:lumMod val="60000"/>
              <a:lumOff val="40000"/>
            </a:schemeClr>
          </a:solidFill>
          <a:ln w="28575">
            <a:solidFill>
              <a:schemeClr val="accent3"/>
            </a:solidFill>
            <a:prstDash val="lg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程序运行</a:t>
            </a:r>
            <a:r>
              <a:rPr lang="en-US" altLang="zh-CN"/>
              <a:t>ing</a:t>
            </a:r>
            <a:endParaRPr lang="en-US" altLang="zh-CN"/>
          </a:p>
        </p:txBody>
      </p:sp>
      <p:cxnSp>
        <p:nvCxnSpPr>
          <p:cNvPr id="8" name="直接箭头连接符 7"/>
          <p:cNvCxnSpPr>
            <a:stCxn id="4" idx="3"/>
            <a:endCxn id="7" idx="1"/>
          </p:cNvCxnSpPr>
          <p:nvPr/>
        </p:nvCxnSpPr>
        <p:spPr>
          <a:xfrm>
            <a:off x="2473325" y="5342890"/>
            <a:ext cx="103886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2496820" y="5104130"/>
            <a:ext cx="1015365" cy="275590"/>
          </a:xfrm>
          <a:prstGeom prst="rect">
            <a:avLst/>
          </a:prstGeom>
          <a:noFill/>
        </p:spPr>
        <p:txBody>
          <a:bodyPr wrap="square" rtlCol="0">
            <a:spAutoFit/>
          </a:bodyPr>
          <a:p>
            <a:r>
              <a:rPr lang="zh-CN" altLang="en-US" sz="1200"/>
              <a:t>启动程序</a:t>
            </a:r>
            <a:endParaRPr lang="zh-CN" altLang="en-US" sz="1200"/>
          </a:p>
        </p:txBody>
      </p:sp>
      <p:sp>
        <p:nvSpPr>
          <p:cNvPr id="10" name="圆角矩形 9"/>
          <p:cNvSpPr/>
          <p:nvPr/>
        </p:nvSpPr>
        <p:spPr>
          <a:xfrm>
            <a:off x="3512185" y="2915285"/>
            <a:ext cx="1530350" cy="1028065"/>
          </a:xfrm>
          <a:prstGeom prst="roundRect">
            <a:avLst/>
          </a:prstGeom>
          <a:solidFill>
            <a:schemeClr val="accent5">
              <a:lumMod val="60000"/>
              <a:lumOff val="40000"/>
            </a:schemeClr>
          </a:solidFill>
          <a:ln>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平台</a:t>
            </a:r>
            <a:r>
              <a:rPr lang="zh-CN" altLang="en-US"/>
              <a:t>后端</a:t>
            </a:r>
            <a:endParaRPr lang="zh-CN" altLang="en-US"/>
          </a:p>
        </p:txBody>
      </p:sp>
      <p:sp>
        <p:nvSpPr>
          <p:cNvPr id="11" name="圆角矩形 10"/>
          <p:cNvSpPr/>
          <p:nvPr/>
        </p:nvSpPr>
        <p:spPr>
          <a:xfrm>
            <a:off x="966470" y="2915285"/>
            <a:ext cx="1530350" cy="1028065"/>
          </a:xfrm>
          <a:prstGeom prst="roundRect">
            <a:avLst/>
          </a:prstGeom>
          <a:solidFill>
            <a:schemeClr val="accent5">
              <a:lumMod val="60000"/>
              <a:lumOff val="40000"/>
            </a:schemeClr>
          </a:solidFill>
          <a:ln>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平台</a:t>
            </a:r>
            <a:endParaRPr lang="zh-CN" altLang="en-US"/>
          </a:p>
        </p:txBody>
      </p:sp>
      <p:cxnSp>
        <p:nvCxnSpPr>
          <p:cNvPr id="12" name="直接箭头连接符 11"/>
          <p:cNvCxnSpPr/>
          <p:nvPr/>
        </p:nvCxnSpPr>
        <p:spPr>
          <a:xfrm>
            <a:off x="2473325" y="3429635"/>
            <a:ext cx="103886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3" name="文本框 12"/>
          <p:cNvSpPr txBox="1"/>
          <p:nvPr/>
        </p:nvSpPr>
        <p:spPr>
          <a:xfrm>
            <a:off x="2390775" y="3504565"/>
            <a:ext cx="1155700" cy="275590"/>
          </a:xfrm>
          <a:prstGeom prst="rect">
            <a:avLst/>
          </a:prstGeom>
          <a:noFill/>
        </p:spPr>
        <p:txBody>
          <a:bodyPr wrap="square" rtlCol="0">
            <a:spAutoFit/>
          </a:bodyPr>
          <a:p>
            <a:r>
              <a:rPr lang="zh-CN" altLang="en-US" sz="1200"/>
              <a:t>下发起飞</a:t>
            </a:r>
            <a:r>
              <a:rPr lang="zh-CN" altLang="en-US" sz="1200"/>
              <a:t>任务</a:t>
            </a:r>
            <a:endParaRPr lang="zh-CN" altLang="en-US" sz="1200"/>
          </a:p>
        </p:txBody>
      </p:sp>
      <p:cxnSp>
        <p:nvCxnSpPr>
          <p:cNvPr id="16" name="直接箭头连接符 15"/>
          <p:cNvCxnSpPr/>
          <p:nvPr/>
        </p:nvCxnSpPr>
        <p:spPr>
          <a:xfrm>
            <a:off x="4169410" y="3943350"/>
            <a:ext cx="9525" cy="85026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7" name="文本框 16"/>
          <p:cNvSpPr txBox="1"/>
          <p:nvPr/>
        </p:nvSpPr>
        <p:spPr>
          <a:xfrm>
            <a:off x="4169410" y="4181475"/>
            <a:ext cx="1120775" cy="382905"/>
          </a:xfrm>
          <a:prstGeom prst="rect">
            <a:avLst/>
          </a:prstGeom>
          <a:noFill/>
        </p:spPr>
        <p:txBody>
          <a:bodyPr wrap="square" rtlCol="0">
            <a:noAutofit/>
          </a:bodyPr>
          <a:p>
            <a:r>
              <a:rPr lang="zh-CN" altLang="en-US" sz="1200"/>
              <a:t>发送</a:t>
            </a:r>
            <a:r>
              <a:rPr lang="en-US" altLang="zh-CN" sz="1200"/>
              <a:t>mqtt</a:t>
            </a:r>
            <a:r>
              <a:rPr lang="zh-CN" altLang="en-US" sz="1200"/>
              <a:t>消息</a:t>
            </a:r>
            <a:endParaRPr lang="zh-CN" altLang="en-US" sz="1200"/>
          </a:p>
        </p:txBody>
      </p:sp>
      <p:sp>
        <p:nvSpPr>
          <p:cNvPr id="18" name="圆角矩形 17"/>
          <p:cNvSpPr/>
          <p:nvPr/>
        </p:nvSpPr>
        <p:spPr>
          <a:xfrm>
            <a:off x="6115050" y="4828540"/>
            <a:ext cx="1530350" cy="1028065"/>
          </a:xfrm>
          <a:prstGeom prst="roundRect">
            <a:avLst/>
          </a:prstGeom>
          <a:solidFill>
            <a:schemeClr val="accent5">
              <a:lumMod val="60000"/>
              <a:lumOff val="40000"/>
            </a:schemeClr>
          </a:solidFill>
          <a:ln w="28575">
            <a:solidFill>
              <a:schemeClr val="accent3"/>
            </a:solidFill>
            <a:prstDash val="lg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等待机场状态</a:t>
            </a:r>
            <a:r>
              <a:rPr lang="zh-CN" altLang="en-US"/>
              <a:t>变化</a:t>
            </a:r>
            <a:endParaRPr lang="zh-CN" altLang="en-US"/>
          </a:p>
        </p:txBody>
      </p:sp>
      <p:cxnSp>
        <p:nvCxnSpPr>
          <p:cNvPr id="19" name="直接箭头连接符 18"/>
          <p:cNvCxnSpPr/>
          <p:nvPr/>
        </p:nvCxnSpPr>
        <p:spPr>
          <a:xfrm>
            <a:off x="5019040" y="5433060"/>
            <a:ext cx="103886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20" name="文本框 19"/>
          <p:cNvSpPr txBox="1"/>
          <p:nvPr/>
        </p:nvSpPr>
        <p:spPr>
          <a:xfrm>
            <a:off x="7673975" y="4919345"/>
            <a:ext cx="1015365" cy="460375"/>
          </a:xfrm>
          <a:prstGeom prst="rect">
            <a:avLst/>
          </a:prstGeom>
          <a:noFill/>
        </p:spPr>
        <p:txBody>
          <a:bodyPr wrap="square" rtlCol="0">
            <a:spAutoFit/>
          </a:bodyPr>
          <a:p>
            <a:r>
              <a:rPr lang="zh-CN" altLang="en-US" sz="1200"/>
              <a:t>机场状态</a:t>
            </a:r>
            <a:r>
              <a:rPr lang="zh-CN" altLang="en-US" sz="1200"/>
              <a:t>变化</a:t>
            </a:r>
            <a:endParaRPr lang="zh-CN" altLang="en-US" sz="1200"/>
          </a:p>
        </p:txBody>
      </p:sp>
      <p:cxnSp>
        <p:nvCxnSpPr>
          <p:cNvPr id="21" name="肘形连接符 20"/>
          <p:cNvCxnSpPr>
            <a:stCxn id="11" idx="3"/>
            <a:endCxn id="22" idx="1"/>
          </p:cNvCxnSpPr>
          <p:nvPr/>
        </p:nvCxnSpPr>
        <p:spPr>
          <a:xfrm flipV="1">
            <a:off x="2496820" y="1845945"/>
            <a:ext cx="1043940" cy="1583690"/>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sp>
        <p:nvSpPr>
          <p:cNvPr id="22" name="圆角矩形 21"/>
          <p:cNvSpPr/>
          <p:nvPr/>
        </p:nvSpPr>
        <p:spPr>
          <a:xfrm>
            <a:off x="3540760" y="1331595"/>
            <a:ext cx="1530350" cy="1028065"/>
          </a:xfrm>
          <a:prstGeom prst="roundRect">
            <a:avLst/>
          </a:prstGeom>
          <a:solidFill>
            <a:schemeClr val="accent5">
              <a:lumMod val="60000"/>
              <a:lumOff val="40000"/>
            </a:schemeClr>
          </a:solidFill>
          <a:ln>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无人机起飞</a:t>
            </a:r>
            <a:endParaRPr lang="zh-CN" altLang="en-US"/>
          </a:p>
        </p:txBody>
      </p:sp>
      <p:sp>
        <p:nvSpPr>
          <p:cNvPr id="23" name="圆角矩形 22"/>
          <p:cNvSpPr/>
          <p:nvPr/>
        </p:nvSpPr>
        <p:spPr>
          <a:xfrm>
            <a:off x="6233160" y="1331595"/>
            <a:ext cx="1530350" cy="1028065"/>
          </a:xfrm>
          <a:prstGeom prst="roundRect">
            <a:avLst/>
          </a:prstGeom>
          <a:solidFill>
            <a:schemeClr val="accent5">
              <a:lumMod val="60000"/>
              <a:lumOff val="40000"/>
            </a:schemeClr>
          </a:solidFill>
          <a:ln>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无人机执行完航线返回机场</a:t>
            </a:r>
            <a:endParaRPr lang="zh-CN" altLang="en-US" sz="1400"/>
          </a:p>
          <a:p>
            <a:pPr algn="ctr"/>
            <a:r>
              <a:rPr lang="en-US" altLang="zh-CN" sz="1400"/>
              <a:t>     </a:t>
            </a:r>
            <a:endParaRPr lang="zh-CN" altLang="en-US" sz="1400"/>
          </a:p>
          <a:p>
            <a:pPr algn="ctr"/>
            <a:r>
              <a:rPr lang="zh-CN" altLang="en-US" sz="1400"/>
              <a:t>将数据传回机场</a:t>
            </a:r>
            <a:endParaRPr lang="zh-CN" altLang="en-US" sz="1400"/>
          </a:p>
        </p:txBody>
      </p:sp>
      <p:cxnSp>
        <p:nvCxnSpPr>
          <p:cNvPr id="25" name="直接箭头连接符 24"/>
          <p:cNvCxnSpPr/>
          <p:nvPr/>
        </p:nvCxnSpPr>
        <p:spPr>
          <a:xfrm>
            <a:off x="5132705" y="1845945"/>
            <a:ext cx="103886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6" name="直接箭头连接符 25"/>
          <p:cNvCxnSpPr/>
          <p:nvPr/>
        </p:nvCxnSpPr>
        <p:spPr>
          <a:xfrm>
            <a:off x="7673975" y="5379720"/>
            <a:ext cx="103886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27" name="圆角矩形 26"/>
          <p:cNvSpPr/>
          <p:nvPr/>
        </p:nvSpPr>
        <p:spPr>
          <a:xfrm>
            <a:off x="8741410" y="4919345"/>
            <a:ext cx="1530350" cy="1028065"/>
          </a:xfrm>
          <a:prstGeom prst="roundRect">
            <a:avLst/>
          </a:prstGeom>
          <a:solidFill>
            <a:schemeClr val="accent5">
              <a:lumMod val="60000"/>
              <a:lumOff val="40000"/>
            </a:schemeClr>
          </a:solidFill>
          <a:ln w="28575">
            <a:solidFill>
              <a:schemeClr val="accent3"/>
            </a:solidFill>
            <a:prstDash val="lg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收到图片开始</a:t>
            </a:r>
            <a:r>
              <a:rPr lang="zh-CN" altLang="en-US"/>
              <a:t>分析</a:t>
            </a:r>
            <a:endParaRPr lang="zh-CN" altLang="en-US"/>
          </a:p>
        </p:txBody>
      </p:sp>
      <p:sp>
        <p:nvSpPr>
          <p:cNvPr id="29" name="圆角矩形 28"/>
          <p:cNvSpPr/>
          <p:nvPr/>
        </p:nvSpPr>
        <p:spPr>
          <a:xfrm>
            <a:off x="8689340" y="2915285"/>
            <a:ext cx="1530350" cy="1028065"/>
          </a:xfrm>
          <a:prstGeom prst="roundRect">
            <a:avLst/>
          </a:prstGeom>
          <a:solidFill>
            <a:schemeClr val="accent5">
              <a:lumMod val="60000"/>
              <a:lumOff val="40000"/>
            </a:schemeClr>
          </a:solidFill>
          <a:ln w="28575">
            <a:solidFill>
              <a:schemeClr val="accent3"/>
            </a:solidFill>
            <a:prstDash val="lg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分析完毕</a:t>
            </a:r>
            <a:endParaRPr lang="zh-CN" altLang="en-US"/>
          </a:p>
        </p:txBody>
      </p:sp>
      <p:cxnSp>
        <p:nvCxnSpPr>
          <p:cNvPr id="31" name="直接箭头连接符 30"/>
          <p:cNvCxnSpPr>
            <a:stCxn id="29" idx="1"/>
          </p:cNvCxnSpPr>
          <p:nvPr/>
        </p:nvCxnSpPr>
        <p:spPr>
          <a:xfrm flipH="1" flipV="1">
            <a:off x="5100955" y="3418840"/>
            <a:ext cx="3588385" cy="1079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33" name="文本框 32"/>
          <p:cNvSpPr txBox="1"/>
          <p:nvPr/>
        </p:nvSpPr>
        <p:spPr>
          <a:xfrm>
            <a:off x="5741670" y="3011805"/>
            <a:ext cx="2512695" cy="417830"/>
          </a:xfrm>
          <a:prstGeom prst="rect">
            <a:avLst/>
          </a:prstGeom>
          <a:noFill/>
        </p:spPr>
        <p:txBody>
          <a:bodyPr wrap="square" rtlCol="0">
            <a:noAutofit/>
          </a:bodyPr>
          <a:p>
            <a:r>
              <a:rPr lang="zh-CN" altLang="en-US" sz="1200"/>
              <a:t>发送</a:t>
            </a:r>
            <a:r>
              <a:rPr lang="en-US" altLang="zh-CN" sz="1200"/>
              <a:t>mqtt</a:t>
            </a:r>
            <a:r>
              <a:rPr lang="zh-CN" altLang="en-US" sz="1200"/>
              <a:t>消息</a:t>
            </a:r>
            <a:r>
              <a:rPr lang="en-US" altLang="zh-CN" sz="1200"/>
              <a:t> </a:t>
            </a:r>
            <a:r>
              <a:rPr lang="zh-CN" altLang="en-US" sz="1200"/>
              <a:t>消息中包含分析</a:t>
            </a:r>
            <a:r>
              <a:rPr lang="zh-CN" altLang="en-US" sz="1200"/>
              <a:t>结果</a:t>
            </a:r>
            <a:endParaRPr lang="zh-CN" altLang="en-US" sz="1200"/>
          </a:p>
        </p:txBody>
      </p:sp>
      <p:cxnSp>
        <p:nvCxnSpPr>
          <p:cNvPr id="35" name="直接箭头连接符 34"/>
          <p:cNvCxnSpPr>
            <a:stCxn id="27" idx="0"/>
            <a:endCxn id="28" idx="2"/>
          </p:cNvCxnSpPr>
          <p:nvPr/>
        </p:nvCxnSpPr>
        <p:spPr>
          <a:xfrm flipV="1">
            <a:off x="9506585" y="3943350"/>
            <a:ext cx="0" cy="97599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圆角矩形 4"/>
          <p:cNvSpPr/>
          <p:nvPr/>
        </p:nvSpPr>
        <p:spPr>
          <a:xfrm>
            <a:off x="5048250" y="712470"/>
            <a:ext cx="1775460" cy="759460"/>
          </a:xfrm>
          <a:prstGeom prst="roundRect">
            <a:avLst/>
          </a:prstGeom>
          <a:solidFill>
            <a:schemeClr val="accent5">
              <a:lumMod val="60000"/>
              <a:lumOff val="40000"/>
            </a:schemeClr>
          </a:solidFill>
          <a:ln>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MqttHandler</a:t>
            </a:r>
            <a:endParaRPr lang="en-US" altLang="zh-CN"/>
          </a:p>
        </p:txBody>
      </p:sp>
      <p:sp>
        <p:nvSpPr>
          <p:cNvPr id="6" name="圆角矩形 5"/>
          <p:cNvSpPr/>
          <p:nvPr/>
        </p:nvSpPr>
        <p:spPr>
          <a:xfrm>
            <a:off x="5048250" y="2914650"/>
            <a:ext cx="1774825" cy="759460"/>
          </a:xfrm>
          <a:prstGeom prst="roundRect">
            <a:avLst/>
          </a:prstGeom>
          <a:solidFill>
            <a:schemeClr val="accent5">
              <a:lumMod val="60000"/>
              <a:lumOff val="40000"/>
            </a:schemeClr>
          </a:solidFill>
          <a:ln>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TaskManager</a:t>
            </a:r>
            <a:endParaRPr lang="en-US" altLang="zh-CN"/>
          </a:p>
        </p:txBody>
      </p:sp>
      <p:sp>
        <p:nvSpPr>
          <p:cNvPr id="14" name="圆角矩形 13"/>
          <p:cNvSpPr/>
          <p:nvPr/>
        </p:nvSpPr>
        <p:spPr>
          <a:xfrm>
            <a:off x="5048250" y="5117465"/>
            <a:ext cx="1774825" cy="759460"/>
          </a:xfrm>
          <a:prstGeom prst="roundRect">
            <a:avLst/>
          </a:prstGeom>
          <a:solidFill>
            <a:schemeClr val="accent5">
              <a:lumMod val="60000"/>
              <a:lumOff val="40000"/>
            </a:schemeClr>
          </a:solidFill>
          <a:ln>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TaskService</a:t>
            </a:r>
            <a:endParaRPr lang="en-US" altLang="zh-CN"/>
          </a:p>
        </p:txBody>
      </p:sp>
      <p:cxnSp>
        <p:nvCxnSpPr>
          <p:cNvPr id="15" name="直接箭头连接符 14"/>
          <p:cNvCxnSpPr>
            <a:endCxn id="6" idx="0"/>
          </p:cNvCxnSpPr>
          <p:nvPr/>
        </p:nvCxnSpPr>
        <p:spPr>
          <a:xfrm>
            <a:off x="5933440" y="1478280"/>
            <a:ext cx="2540" cy="143637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24" name="文本框 23"/>
          <p:cNvSpPr txBox="1"/>
          <p:nvPr/>
        </p:nvSpPr>
        <p:spPr>
          <a:xfrm>
            <a:off x="5933440" y="1716405"/>
            <a:ext cx="1681480" cy="593090"/>
          </a:xfrm>
          <a:prstGeom prst="rect">
            <a:avLst/>
          </a:prstGeom>
          <a:noFill/>
        </p:spPr>
        <p:txBody>
          <a:bodyPr wrap="square" rtlCol="0">
            <a:noAutofit/>
          </a:bodyPr>
          <a:p>
            <a:r>
              <a:rPr lang="zh-CN" altLang="en-US" sz="1200"/>
              <a:t>解析</a:t>
            </a:r>
            <a:r>
              <a:rPr lang="en-US" altLang="zh-CN" sz="1200"/>
              <a:t>json</a:t>
            </a:r>
            <a:r>
              <a:rPr lang="zh-CN" altLang="en-US" sz="1200"/>
              <a:t>消息调用</a:t>
            </a:r>
            <a:r>
              <a:rPr lang="en-US" altLang="zh-CN" sz="1200"/>
              <a:t>TaskManager</a:t>
            </a:r>
            <a:endParaRPr lang="en-US" altLang="zh-CN" sz="1200"/>
          </a:p>
        </p:txBody>
      </p:sp>
      <p:cxnSp>
        <p:nvCxnSpPr>
          <p:cNvPr id="28" name="直接箭头连接符 27"/>
          <p:cNvCxnSpPr/>
          <p:nvPr/>
        </p:nvCxnSpPr>
        <p:spPr>
          <a:xfrm flipH="1">
            <a:off x="5931535" y="3696335"/>
            <a:ext cx="11430" cy="135001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30" name="文本框 29"/>
          <p:cNvSpPr txBox="1"/>
          <p:nvPr/>
        </p:nvSpPr>
        <p:spPr>
          <a:xfrm>
            <a:off x="5942965" y="3934460"/>
            <a:ext cx="1671955" cy="1013460"/>
          </a:xfrm>
          <a:prstGeom prst="rect">
            <a:avLst/>
          </a:prstGeom>
          <a:noFill/>
        </p:spPr>
        <p:txBody>
          <a:bodyPr wrap="square" rtlCol="0">
            <a:noAutofit/>
          </a:bodyPr>
          <a:p>
            <a:r>
              <a:rPr lang="zh-CN" altLang="en-US" sz="1200"/>
              <a:t>根据</a:t>
            </a:r>
            <a:r>
              <a:rPr lang="en-US" altLang="zh-CN" sz="1200"/>
              <a:t>json</a:t>
            </a:r>
            <a:r>
              <a:rPr lang="zh-CN" altLang="en-US" sz="1200"/>
              <a:t>的字段选择是创建视频流还是图片</a:t>
            </a:r>
            <a:r>
              <a:rPr lang="zh-CN" altLang="en-US" sz="1200"/>
              <a:t>分析任务</a:t>
            </a:r>
            <a:endParaRPr lang="zh-CN" altLang="en-US" sz="1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822450" y="1757045"/>
            <a:ext cx="3710305" cy="334454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descr="超人1"/>
          <p:cNvPicPr>
            <a:picLocks noChangeAspect="1"/>
          </p:cNvPicPr>
          <p:nvPr>
            <p:custDataLst>
              <p:tags r:id="rId1"/>
            </p:custDataLst>
          </p:nvPr>
        </p:nvPicPr>
        <p:blipFill>
          <a:blip r:embed="rId2">
            <a:extLst>
              <a:ext uri="{96DAC541-7B7A-43D3-8B79-37D633B846F1}">
                <asvg:svgBlip xmlns:asvg="http://schemas.microsoft.com/office/drawing/2016/SVG/main" r:embed="rId3"/>
              </a:ext>
            </a:extLst>
          </a:blip>
          <a:stretch>
            <a:fillRect/>
          </a:stretch>
        </p:blipFill>
        <p:spPr>
          <a:xfrm>
            <a:off x="5169535" y="3285490"/>
            <a:ext cx="892810" cy="892810"/>
          </a:xfrm>
          <a:prstGeom prst="rect">
            <a:avLst/>
          </a:prstGeom>
        </p:spPr>
      </p:pic>
      <p:pic>
        <p:nvPicPr>
          <p:cNvPr id="4" name="图片 3" descr="厨师"/>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295640" y="3276600"/>
            <a:ext cx="918210" cy="918210"/>
          </a:xfrm>
          <a:prstGeom prst="rect">
            <a:avLst/>
          </a:prstGeom>
        </p:spPr>
      </p:pic>
      <p:pic>
        <p:nvPicPr>
          <p:cNvPr id="5" name="图片 4" descr="科学家"/>
          <p:cNvPicPr>
            <a:picLocks noChangeAspect="1"/>
          </p:cNvPicPr>
          <p:nvPr>
            <p:custDataLst>
              <p:tags r:id="rId6"/>
            </p:custDataLst>
          </p:nvPr>
        </p:nvPicPr>
        <p:blipFill>
          <a:blip r:embed="rId7">
            <a:extLst>
              <a:ext uri="{96DAC541-7B7A-43D3-8B79-37D633B846F1}">
                <asvg:svgBlip xmlns:asvg="http://schemas.microsoft.com/office/drawing/2016/SVG/main" r:embed="rId8"/>
              </a:ext>
            </a:extLst>
          </a:blip>
          <a:stretch>
            <a:fillRect/>
          </a:stretch>
        </p:blipFill>
        <p:spPr>
          <a:xfrm>
            <a:off x="2677795" y="3310255"/>
            <a:ext cx="868045" cy="868045"/>
          </a:xfrm>
          <a:prstGeom prst="rect">
            <a:avLst/>
          </a:prstGeom>
        </p:spPr>
      </p:pic>
      <p:cxnSp>
        <p:nvCxnSpPr>
          <p:cNvPr id="6" name="直接箭头连接符 5"/>
          <p:cNvCxnSpPr>
            <a:stCxn id="5" idx="3"/>
            <a:endCxn id="3" idx="1"/>
          </p:cNvCxnSpPr>
          <p:nvPr>
            <p:custDataLst>
              <p:tags r:id="rId9"/>
            </p:custDataLst>
          </p:nvPr>
        </p:nvCxnSpPr>
        <p:spPr>
          <a:xfrm flipV="1">
            <a:off x="3545840" y="3731895"/>
            <a:ext cx="1623695" cy="12700"/>
          </a:xfrm>
          <a:prstGeom prst="straightConnector1">
            <a:avLst/>
          </a:prstGeom>
          <a:ln w="31750">
            <a:solidFill>
              <a:schemeClr val="accent4">
                <a:lumMod val="60000"/>
                <a:lumOff val="40000"/>
              </a:schemeClr>
            </a:solidFill>
            <a:tailEnd type="triangle"/>
          </a:ln>
        </p:spPr>
        <p:style>
          <a:lnRef idx="2">
            <a:schemeClr val="accent1"/>
          </a:lnRef>
          <a:fillRef idx="0">
            <a:srgbClr val="FFFFFF"/>
          </a:fillRef>
          <a:effectRef idx="0">
            <a:srgbClr val="FFFFFF"/>
          </a:effectRef>
          <a:fontRef idx="minor">
            <a:schemeClr val="tx1"/>
          </a:fontRef>
        </p:style>
      </p:cxnSp>
      <p:sp>
        <p:nvSpPr>
          <p:cNvPr id="7" name="文本框 6"/>
          <p:cNvSpPr txBox="1"/>
          <p:nvPr/>
        </p:nvSpPr>
        <p:spPr>
          <a:xfrm>
            <a:off x="3657600" y="3383280"/>
            <a:ext cx="1379855" cy="368300"/>
          </a:xfrm>
          <a:prstGeom prst="rect">
            <a:avLst/>
          </a:prstGeom>
          <a:noFill/>
        </p:spPr>
        <p:txBody>
          <a:bodyPr wrap="square" rtlCol="0">
            <a:spAutoFit/>
          </a:bodyPr>
          <a:p>
            <a:endParaRPr lang="zh-CN" altLang="en-US"/>
          </a:p>
        </p:txBody>
      </p:sp>
      <p:sp>
        <p:nvSpPr>
          <p:cNvPr id="8" name="文本框 7"/>
          <p:cNvSpPr txBox="1"/>
          <p:nvPr>
            <p:custDataLst>
              <p:tags r:id="rId10"/>
            </p:custDataLst>
          </p:nvPr>
        </p:nvSpPr>
        <p:spPr>
          <a:xfrm>
            <a:off x="3482975" y="3499485"/>
            <a:ext cx="1750060" cy="245110"/>
          </a:xfrm>
          <a:prstGeom prst="rect">
            <a:avLst/>
          </a:prstGeom>
          <a:noFill/>
        </p:spPr>
        <p:txBody>
          <a:bodyPr wrap="square" rtlCol="0">
            <a:spAutoFit/>
          </a:bodyPr>
          <a:p>
            <a:r>
              <a:rPr lang="zh-CN" altLang="en-US" sz="1000">
                <a:sym typeface="+mn-ea"/>
              </a:rPr>
              <a:t>上午</a:t>
            </a:r>
            <a:r>
              <a:rPr lang="en-US" altLang="zh-CN" sz="1000">
                <a:sym typeface="+mn-ea"/>
              </a:rPr>
              <a:t>8</a:t>
            </a:r>
            <a:r>
              <a:rPr lang="zh-CN" altLang="en-US" sz="1000">
                <a:sym typeface="+mn-ea"/>
              </a:rPr>
              <a:t>：</a:t>
            </a:r>
            <a:r>
              <a:rPr lang="en-US" altLang="zh-CN" sz="1000">
                <a:sym typeface="+mn-ea"/>
              </a:rPr>
              <a:t>30</a:t>
            </a:r>
            <a:r>
              <a:rPr lang="zh-CN" altLang="en-US" sz="1000">
                <a:sym typeface="+mn-ea"/>
              </a:rPr>
              <a:t>来西海岸开组会</a:t>
            </a:r>
            <a:endParaRPr lang="zh-CN" altLang="en-US" sz="1000"/>
          </a:p>
        </p:txBody>
      </p:sp>
      <p:sp>
        <p:nvSpPr>
          <p:cNvPr id="11" name="文本框 10"/>
          <p:cNvSpPr txBox="1"/>
          <p:nvPr>
            <p:custDataLst>
              <p:tags r:id="rId11"/>
            </p:custDataLst>
          </p:nvPr>
        </p:nvSpPr>
        <p:spPr>
          <a:xfrm>
            <a:off x="5935980" y="3276600"/>
            <a:ext cx="1283970" cy="434340"/>
          </a:xfrm>
          <a:prstGeom prst="rect">
            <a:avLst/>
          </a:prstGeom>
          <a:noFill/>
        </p:spPr>
        <p:txBody>
          <a:bodyPr wrap="square" rtlCol="0">
            <a:noAutofit/>
          </a:bodyPr>
          <a:p>
            <a:r>
              <a:rPr lang="zh-CN" altLang="en-US" sz="1000">
                <a:sym typeface="+mn-ea"/>
              </a:rPr>
              <a:t>老师上午</a:t>
            </a:r>
            <a:r>
              <a:rPr lang="en-US" altLang="zh-CN" sz="1000">
                <a:sym typeface="+mn-ea"/>
              </a:rPr>
              <a:t>8</a:t>
            </a:r>
            <a:r>
              <a:rPr lang="zh-CN" altLang="en-US" sz="1000">
                <a:sym typeface="+mn-ea"/>
              </a:rPr>
              <a:t>：</a:t>
            </a:r>
            <a:r>
              <a:rPr lang="en-US" altLang="zh-CN" sz="1000">
                <a:sym typeface="+mn-ea"/>
              </a:rPr>
              <a:t>30</a:t>
            </a:r>
            <a:r>
              <a:rPr lang="zh-CN" altLang="en-US" sz="1000">
                <a:sym typeface="+mn-ea"/>
              </a:rPr>
              <a:t>来西海岸开组会</a:t>
            </a:r>
            <a:endParaRPr lang="zh-CN" altLang="en-US" sz="1000"/>
          </a:p>
        </p:txBody>
      </p:sp>
      <p:pic>
        <p:nvPicPr>
          <p:cNvPr id="12" name="图片 11" descr="厨师"/>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295640" y="2126615"/>
            <a:ext cx="918210" cy="918210"/>
          </a:xfrm>
          <a:prstGeom prst="rect">
            <a:avLst/>
          </a:prstGeom>
        </p:spPr>
      </p:pic>
      <p:pic>
        <p:nvPicPr>
          <p:cNvPr id="13" name="图片 12" descr="厨师"/>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295640" y="4444365"/>
            <a:ext cx="918210" cy="918210"/>
          </a:xfrm>
          <a:prstGeom prst="rect">
            <a:avLst/>
          </a:prstGeom>
        </p:spPr>
      </p:pic>
      <p:cxnSp>
        <p:nvCxnSpPr>
          <p:cNvPr id="15" name="肘形连接符 14"/>
          <p:cNvCxnSpPr>
            <a:stCxn id="3" idx="3"/>
            <a:endCxn id="13" idx="1"/>
          </p:cNvCxnSpPr>
          <p:nvPr/>
        </p:nvCxnSpPr>
        <p:spPr>
          <a:xfrm>
            <a:off x="6062345" y="3731895"/>
            <a:ext cx="2233295" cy="1171575"/>
          </a:xfrm>
          <a:prstGeom prst="bentConnector3">
            <a:avLst>
              <a:gd name="adj1" fmla="val 52743"/>
            </a:avLst>
          </a:prstGeom>
          <a:ln w="31750">
            <a:solidFill>
              <a:schemeClr val="accent3">
                <a:lumMod val="60000"/>
                <a:lumOff val="40000"/>
              </a:schemeClr>
            </a:solidFill>
            <a:tailEnd type="triangle"/>
          </a:ln>
        </p:spPr>
        <p:style>
          <a:lnRef idx="2">
            <a:schemeClr val="accent1"/>
          </a:lnRef>
          <a:fillRef idx="0">
            <a:srgbClr val="FFFFFF"/>
          </a:fillRef>
          <a:effectRef idx="0">
            <a:srgbClr val="FFFFFF"/>
          </a:effectRef>
          <a:fontRef idx="minor">
            <a:schemeClr val="tx1"/>
          </a:fontRef>
        </p:style>
      </p:cxnSp>
      <p:cxnSp>
        <p:nvCxnSpPr>
          <p:cNvPr id="16" name="肘形连接符 15"/>
          <p:cNvCxnSpPr>
            <a:stCxn id="3" idx="3"/>
            <a:endCxn id="12" idx="1"/>
          </p:cNvCxnSpPr>
          <p:nvPr/>
        </p:nvCxnSpPr>
        <p:spPr>
          <a:xfrm flipV="1">
            <a:off x="6062345" y="2585720"/>
            <a:ext cx="2233295" cy="1146175"/>
          </a:xfrm>
          <a:prstGeom prst="bentConnector3">
            <a:avLst>
              <a:gd name="adj1" fmla="val 52999"/>
            </a:avLst>
          </a:prstGeom>
          <a:ln w="31750">
            <a:solidFill>
              <a:schemeClr val="accent3">
                <a:lumMod val="60000"/>
                <a:lumOff val="40000"/>
              </a:schemeClr>
            </a:solidFill>
            <a:tailEnd type="triangle"/>
          </a:ln>
        </p:spPr>
        <p:style>
          <a:lnRef idx="2">
            <a:schemeClr val="accent1"/>
          </a:lnRef>
          <a:fillRef idx="0">
            <a:srgbClr val="FFFFFF"/>
          </a:fillRef>
          <a:effectRef idx="0">
            <a:srgbClr val="FFFFFF"/>
          </a:effectRef>
          <a:fontRef idx="minor">
            <a:schemeClr val="tx1"/>
          </a:fontRef>
        </p:style>
      </p:cxnSp>
      <p:cxnSp>
        <p:nvCxnSpPr>
          <p:cNvPr id="17" name="直接箭头连接符 16"/>
          <p:cNvCxnSpPr>
            <a:endCxn id="4" idx="1"/>
          </p:cNvCxnSpPr>
          <p:nvPr>
            <p:custDataLst>
              <p:tags r:id="rId12"/>
            </p:custDataLst>
          </p:nvPr>
        </p:nvCxnSpPr>
        <p:spPr>
          <a:xfrm>
            <a:off x="6134100" y="3732530"/>
            <a:ext cx="2161540" cy="3175"/>
          </a:xfrm>
          <a:prstGeom prst="straightConnector1">
            <a:avLst/>
          </a:prstGeom>
          <a:ln w="31750">
            <a:solidFill>
              <a:schemeClr val="accent3">
                <a:lumMod val="60000"/>
                <a:lumOff val="40000"/>
              </a:schemeClr>
            </a:solidFill>
            <a:tailEnd type="triangle"/>
          </a:ln>
        </p:spPr>
        <p:style>
          <a:lnRef idx="2">
            <a:schemeClr val="accent1"/>
          </a:lnRef>
          <a:fillRef idx="0">
            <a:srgbClr val="FFFFFF"/>
          </a:fillRef>
          <a:effectRef idx="0">
            <a:srgbClr val="FFFFFF"/>
          </a:effectRef>
          <a:fontRef idx="minor">
            <a:schemeClr val="tx1"/>
          </a:fontRef>
        </p:style>
      </p:cxnSp>
      <p:sp>
        <p:nvSpPr>
          <p:cNvPr id="18" name="椭圆形标注 17"/>
          <p:cNvSpPr/>
          <p:nvPr/>
        </p:nvSpPr>
        <p:spPr>
          <a:xfrm>
            <a:off x="9058910" y="1859280"/>
            <a:ext cx="1188720" cy="579120"/>
          </a:xfrm>
          <a:prstGeom prst="wedgeEllipseCallout">
            <a:avLst>
              <a:gd name="adj1" fmla="val -43910"/>
              <a:gd name="adj2" fmla="val 66447"/>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9" name="椭圆形标注 18"/>
          <p:cNvSpPr/>
          <p:nvPr/>
        </p:nvSpPr>
        <p:spPr>
          <a:xfrm>
            <a:off x="9124950" y="2920365"/>
            <a:ext cx="1188720" cy="579120"/>
          </a:xfrm>
          <a:prstGeom prst="wedgeEllipseCallout">
            <a:avLst>
              <a:gd name="adj1" fmla="val -43910"/>
              <a:gd name="adj2" fmla="val 66447"/>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0" name="椭圆形标注 19"/>
          <p:cNvSpPr/>
          <p:nvPr/>
        </p:nvSpPr>
        <p:spPr>
          <a:xfrm>
            <a:off x="8985250" y="4079240"/>
            <a:ext cx="1188720" cy="579120"/>
          </a:xfrm>
          <a:prstGeom prst="wedgeEllipseCallout">
            <a:avLst>
              <a:gd name="adj1" fmla="val -43910"/>
              <a:gd name="adj2" fmla="val 66447"/>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3" name="文本框 22"/>
          <p:cNvSpPr txBox="1"/>
          <p:nvPr>
            <p:custDataLst>
              <p:tags r:id="rId13"/>
            </p:custDataLst>
          </p:nvPr>
        </p:nvSpPr>
        <p:spPr>
          <a:xfrm>
            <a:off x="9124950" y="1979930"/>
            <a:ext cx="1049020" cy="360680"/>
          </a:xfrm>
          <a:prstGeom prst="rect">
            <a:avLst/>
          </a:prstGeom>
          <a:noFill/>
        </p:spPr>
        <p:txBody>
          <a:bodyPr wrap="square" rtlCol="0">
            <a:noAutofit/>
          </a:bodyPr>
          <a:p>
            <a:r>
              <a:rPr lang="zh-CN" altLang="en-US" sz="800"/>
              <a:t>定一个</a:t>
            </a:r>
            <a:r>
              <a:rPr lang="en-US" altLang="zh-CN" sz="800"/>
              <a:t> 08:00</a:t>
            </a:r>
            <a:r>
              <a:rPr lang="zh-CN" altLang="en-US" sz="800"/>
              <a:t>（甚至更早）的闹钟起床</a:t>
            </a:r>
            <a:endParaRPr lang="zh-CN" altLang="en-US" sz="800"/>
          </a:p>
        </p:txBody>
      </p:sp>
      <p:sp>
        <p:nvSpPr>
          <p:cNvPr id="24" name="文本框 23"/>
          <p:cNvSpPr txBox="1"/>
          <p:nvPr>
            <p:custDataLst>
              <p:tags r:id="rId14"/>
            </p:custDataLst>
          </p:nvPr>
        </p:nvSpPr>
        <p:spPr>
          <a:xfrm>
            <a:off x="9213850" y="3051810"/>
            <a:ext cx="1049020" cy="360680"/>
          </a:xfrm>
          <a:prstGeom prst="rect">
            <a:avLst/>
          </a:prstGeom>
          <a:noFill/>
        </p:spPr>
        <p:txBody>
          <a:bodyPr wrap="square" rtlCol="0">
            <a:noAutofit/>
          </a:bodyPr>
          <a:p>
            <a:r>
              <a:rPr lang="zh-CN" altLang="en-US" sz="800"/>
              <a:t>定一个</a:t>
            </a:r>
            <a:r>
              <a:rPr lang="en-US" altLang="zh-CN" sz="800"/>
              <a:t> 08:20</a:t>
            </a:r>
            <a:r>
              <a:rPr lang="zh-CN" altLang="en-US" sz="800"/>
              <a:t>的闹钟起床</a:t>
            </a:r>
            <a:endParaRPr lang="zh-CN" altLang="en-US" sz="800"/>
          </a:p>
        </p:txBody>
      </p:sp>
      <p:sp>
        <p:nvSpPr>
          <p:cNvPr id="25" name="文本框 24"/>
          <p:cNvSpPr txBox="1"/>
          <p:nvPr>
            <p:custDataLst>
              <p:tags r:id="rId15"/>
            </p:custDataLst>
          </p:nvPr>
        </p:nvSpPr>
        <p:spPr>
          <a:xfrm>
            <a:off x="9124950" y="4259580"/>
            <a:ext cx="1049020" cy="360680"/>
          </a:xfrm>
          <a:prstGeom prst="rect">
            <a:avLst/>
          </a:prstGeom>
          <a:noFill/>
        </p:spPr>
        <p:txBody>
          <a:bodyPr wrap="square" rtlCol="0">
            <a:noAutofit/>
          </a:bodyPr>
          <a:p>
            <a:r>
              <a:rPr lang="zh-CN" altLang="en-US" sz="800"/>
              <a:t>直接睡</a:t>
            </a:r>
            <a:r>
              <a:rPr lang="zh-CN" altLang="en-US" sz="800"/>
              <a:t>在实验室</a:t>
            </a:r>
            <a:endParaRPr lang="zh-CN" altLang="en-US" sz="800"/>
          </a:p>
        </p:txBody>
      </p:sp>
      <p:sp>
        <p:nvSpPr>
          <p:cNvPr id="26" name="文本框 25"/>
          <p:cNvSpPr txBox="1"/>
          <p:nvPr>
            <p:custDataLst>
              <p:tags r:id="rId16"/>
            </p:custDataLst>
          </p:nvPr>
        </p:nvSpPr>
        <p:spPr>
          <a:xfrm>
            <a:off x="2814320" y="4178300"/>
            <a:ext cx="465455" cy="245110"/>
          </a:xfrm>
          <a:prstGeom prst="rect">
            <a:avLst/>
          </a:prstGeom>
          <a:noFill/>
        </p:spPr>
        <p:txBody>
          <a:bodyPr wrap="square" rtlCol="0">
            <a:spAutoFit/>
          </a:bodyPr>
          <a:p>
            <a:r>
              <a:rPr lang="zh-CN" altLang="en-US" sz="1000">
                <a:sym typeface="+mn-ea"/>
              </a:rPr>
              <a:t>老师</a:t>
            </a:r>
            <a:endParaRPr lang="zh-CN" altLang="en-US" sz="1000">
              <a:sym typeface="+mn-ea"/>
            </a:endParaRPr>
          </a:p>
        </p:txBody>
      </p:sp>
      <p:sp>
        <p:nvSpPr>
          <p:cNvPr id="27" name="文本框 26"/>
          <p:cNvSpPr txBox="1"/>
          <p:nvPr>
            <p:custDataLst>
              <p:tags r:id="rId17"/>
            </p:custDataLst>
          </p:nvPr>
        </p:nvSpPr>
        <p:spPr>
          <a:xfrm>
            <a:off x="5332095" y="4180205"/>
            <a:ext cx="603885" cy="245110"/>
          </a:xfrm>
          <a:prstGeom prst="rect">
            <a:avLst/>
          </a:prstGeom>
          <a:noFill/>
        </p:spPr>
        <p:txBody>
          <a:bodyPr wrap="square" rtlCol="0">
            <a:spAutoFit/>
          </a:bodyPr>
          <a:p>
            <a:r>
              <a:rPr lang="zh-CN" altLang="en-US" sz="1000">
                <a:sym typeface="+mn-ea"/>
              </a:rPr>
              <a:t>大师兄</a:t>
            </a:r>
            <a:endParaRPr lang="zh-CN" altLang="en-US" sz="1000">
              <a:sym typeface="+mn-ea"/>
            </a:endParaRPr>
          </a:p>
        </p:txBody>
      </p:sp>
      <p:sp>
        <p:nvSpPr>
          <p:cNvPr id="28" name="文本框 27"/>
          <p:cNvSpPr txBox="1"/>
          <p:nvPr>
            <p:custDataLst>
              <p:tags r:id="rId18"/>
            </p:custDataLst>
          </p:nvPr>
        </p:nvSpPr>
        <p:spPr>
          <a:xfrm>
            <a:off x="8455025" y="5421630"/>
            <a:ext cx="603885" cy="245110"/>
          </a:xfrm>
          <a:prstGeom prst="rect">
            <a:avLst/>
          </a:prstGeom>
          <a:noFill/>
        </p:spPr>
        <p:txBody>
          <a:bodyPr wrap="square" rtlCol="0">
            <a:spAutoFit/>
          </a:bodyPr>
          <a:p>
            <a:r>
              <a:rPr lang="zh-CN" altLang="en-US" sz="1000">
                <a:sym typeface="+mn-ea"/>
              </a:rPr>
              <a:t>学生们</a:t>
            </a:r>
            <a:endParaRPr lang="zh-CN" altLang="en-US" sz="1000">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descr="超人1"/>
          <p:cNvPicPr>
            <a:picLocks noChangeAspect="1"/>
          </p:cNvPicPr>
          <p:nvPr>
            <p:custDataLst>
              <p:tags r:id="rId1"/>
            </p:custDataLst>
          </p:nvPr>
        </p:nvPicPr>
        <p:blipFill>
          <a:blip r:embed="rId2">
            <a:extLst>
              <a:ext uri="{96DAC541-7B7A-43D3-8B79-37D633B846F1}">
                <asvg:svgBlip xmlns:asvg="http://schemas.microsoft.com/office/drawing/2016/SVG/main" r:embed="rId3"/>
              </a:ext>
            </a:extLst>
          </a:blip>
          <a:stretch>
            <a:fillRect/>
          </a:stretch>
        </p:blipFill>
        <p:spPr>
          <a:xfrm>
            <a:off x="5169535" y="3285490"/>
            <a:ext cx="892810" cy="892810"/>
          </a:xfrm>
          <a:prstGeom prst="rect">
            <a:avLst/>
          </a:prstGeom>
        </p:spPr>
      </p:pic>
      <p:pic>
        <p:nvPicPr>
          <p:cNvPr id="4" name="图片 3" descr="厨师"/>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295640" y="3276600"/>
            <a:ext cx="918210" cy="918210"/>
          </a:xfrm>
          <a:prstGeom prst="rect">
            <a:avLst/>
          </a:prstGeom>
        </p:spPr>
      </p:pic>
      <p:pic>
        <p:nvPicPr>
          <p:cNvPr id="5" name="图片 4" descr="科学家"/>
          <p:cNvPicPr>
            <a:picLocks noChangeAspect="1"/>
          </p:cNvPicPr>
          <p:nvPr>
            <p:custDataLst>
              <p:tags r:id="rId6"/>
            </p:custDataLst>
          </p:nvPr>
        </p:nvPicPr>
        <p:blipFill>
          <a:blip r:embed="rId7">
            <a:extLst>
              <a:ext uri="{96DAC541-7B7A-43D3-8B79-37D633B846F1}">
                <asvg:svgBlip xmlns:asvg="http://schemas.microsoft.com/office/drawing/2016/SVG/main" r:embed="rId8"/>
              </a:ext>
            </a:extLst>
          </a:blip>
          <a:stretch>
            <a:fillRect/>
          </a:stretch>
        </p:blipFill>
        <p:spPr>
          <a:xfrm>
            <a:off x="2677795" y="3310255"/>
            <a:ext cx="868045" cy="868045"/>
          </a:xfrm>
          <a:prstGeom prst="rect">
            <a:avLst/>
          </a:prstGeom>
        </p:spPr>
      </p:pic>
      <p:cxnSp>
        <p:nvCxnSpPr>
          <p:cNvPr id="6" name="直接箭头连接符 5"/>
          <p:cNvCxnSpPr>
            <a:stCxn id="5" idx="3"/>
            <a:endCxn id="3" idx="1"/>
          </p:cNvCxnSpPr>
          <p:nvPr>
            <p:custDataLst>
              <p:tags r:id="rId9"/>
            </p:custDataLst>
          </p:nvPr>
        </p:nvCxnSpPr>
        <p:spPr>
          <a:xfrm flipV="1">
            <a:off x="3545840" y="3731895"/>
            <a:ext cx="1623695" cy="12700"/>
          </a:xfrm>
          <a:prstGeom prst="straightConnector1">
            <a:avLst/>
          </a:prstGeom>
          <a:ln w="31750">
            <a:solidFill>
              <a:schemeClr val="accent4">
                <a:lumMod val="60000"/>
                <a:lumOff val="40000"/>
              </a:schemeClr>
            </a:solidFill>
            <a:tailEnd type="triangle"/>
          </a:ln>
        </p:spPr>
        <p:style>
          <a:lnRef idx="2">
            <a:schemeClr val="accent1"/>
          </a:lnRef>
          <a:fillRef idx="0">
            <a:srgbClr val="FFFFFF"/>
          </a:fillRef>
          <a:effectRef idx="0">
            <a:srgbClr val="FFFFFF"/>
          </a:effectRef>
          <a:fontRef idx="minor">
            <a:schemeClr val="tx1"/>
          </a:fontRef>
        </p:style>
      </p:cxnSp>
      <p:sp>
        <p:nvSpPr>
          <p:cNvPr id="7" name="文本框 6"/>
          <p:cNvSpPr txBox="1"/>
          <p:nvPr/>
        </p:nvSpPr>
        <p:spPr>
          <a:xfrm>
            <a:off x="3657600" y="3383280"/>
            <a:ext cx="1379855" cy="368300"/>
          </a:xfrm>
          <a:prstGeom prst="rect">
            <a:avLst/>
          </a:prstGeom>
          <a:noFill/>
        </p:spPr>
        <p:txBody>
          <a:bodyPr wrap="square" rtlCol="0">
            <a:spAutoFit/>
          </a:bodyPr>
          <a:p>
            <a:endParaRPr lang="zh-CN" altLang="en-US"/>
          </a:p>
        </p:txBody>
      </p:sp>
      <p:sp>
        <p:nvSpPr>
          <p:cNvPr id="8" name="文本框 7"/>
          <p:cNvSpPr txBox="1"/>
          <p:nvPr>
            <p:custDataLst>
              <p:tags r:id="rId10"/>
            </p:custDataLst>
          </p:nvPr>
        </p:nvSpPr>
        <p:spPr>
          <a:xfrm>
            <a:off x="3482975" y="3499485"/>
            <a:ext cx="1750060" cy="245110"/>
          </a:xfrm>
          <a:prstGeom prst="rect">
            <a:avLst/>
          </a:prstGeom>
          <a:noFill/>
        </p:spPr>
        <p:txBody>
          <a:bodyPr wrap="square" rtlCol="0">
            <a:spAutoFit/>
          </a:bodyPr>
          <a:p>
            <a:r>
              <a:rPr lang="zh-CN" altLang="en-US" sz="1000">
                <a:sym typeface="+mn-ea"/>
              </a:rPr>
              <a:t>下午</a:t>
            </a:r>
            <a:r>
              <a:rPr lang="en-US" sz="1000">
                <a:sym typeface="+mn-ea"/>
              </a:rPr>
              <a:t>13:30</a:t>
            </a:r>
            <a:r>
              <a:rPr lang="zh-CN" altLang="en-US" sz="1000">
                <a:sym typeface="+mn-ea"/>
              </a:rPr>
              <a:t>讲论文</a:t>
            </a:r>
            <a:endParaRPr lang="zh-CN" altLang="en-US" sz="1000">
              <a:sym typeface="+mn-ea"/>
            </a:endParaRPr>
          </a:p>
        </p:txBody>
      </p:sp>
      <p:sp>
        <p:nvSpPr>
          <p:cNvPr id="11" name="文本框 10"/>
          <p:cNvSpPr txBox="1"/>
          <p:nvPr>
            <p:custDataLst>
              <p:tags r:id="rId11"/>
            </p:custDataLst>
          </p:nvPr>
        </p:nvSpPr>
        <p:spPr>
          <a:xfrm>
            <a:off x="5976620" y="3499485"/>
            <a:ext cx="1379220" cy="434340"/>
          </a:xfrm>
          <a:prstGeom prst="rect">
            <a:avLst/>
          </a:prstGeom>
          <a:noFill/>
        </p:spPr>
        <p:txBody>
          <a:bodyPr wrap="square" rtlCol="0">
            <a:noAutofit/>
          </a:bodyPr>
          <a:p>
            <a:r>
              <a:rPr lang="zh-CN" altLang="en-US" sz="1000">
                <a:sym typeface="+mn-ea"/>
              </a:rPr>
              <a:t>老师</a:t>
            </a:r>
            <a:r>
              <a:rPr lang="zh-CN" altLang="en-US" sz="1000">
                <a:sym typeface="+mn-ea"/>
              </a:rPr>
              <a:t>下午</a:t>
            </a:r>
            <a:r>
              <a:rPr lang="en-US" sz="1000">
                <a:sym typeface="+mn-ea"/>
              </a:rPr>
              <a:t>13:30</a:t>
            </a:r>
            <a:r>
              <a:rPr lang="zh-CN" altLang="en-US" sz="1000">
                <a:sym typeface="+mn-ea"/>
              </a:rPr>
              <a:t>讲论文</a:t>
            </a:r>
            <a:endParaRPr lang="zh-CN" altLang="en-US" sz="1000"/>
          </a:p>
        </p:txBody>
      </p:sp>
      <p:pic>
        <p:nvPicPr>
          <p:cNvPr id="12" name="图片 11" descr="厨师"/>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295640" y="2126615"/>
            <a:ext cx="918210" cy="918210"/>
          </a:xfrm>
          <a:prstGeom prst="rect">
            <a:avLst/>
          </a:prstGeom>
        </p:spPr>
      </p:pic>
      <p:pic>
        <p:nvPicPr>
          <p:cNvPr id="13" name="图片 12" descr="厨师"/>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295640" y="4444365"/>
            <a:ext cx="918210" cy="918210"/>
          </a:xfrm>
          <a:prstGeom prst="rect">
            <a:avLst/>
          </a:prstGeom>
        </p:spPr>
      </p:pic>
      <p:cxnSp>
        <p:nvCxnSpPr>
          <p:cNvPr id="15" name="肘形连接符 14"/>
          <p:cNvCxnSpPr>
            <a:stCxn id="3" idx="3"/>
            <a:endCxn id="13" idx="1"/>
          </p:cNvCxnSpPr>
          <p:nvPr/>
        </p:nvCxnSpPr>
        <p:spPr>
          <a:xfrm>
            <a:off x="6062345" y="3731895"/>
            <a:ext cx="2233295" cy="1171575"/>
          </a:xfrm>
          <a:prstGeom prst="bentConnector3">
            <a:avLst>
              <a:gd name="adj1" fmla="val 52743"/>
            </a:avLst>
          </a:prstGeom>
          <a:ln w="31750">
            <a:solidFill>
              <a:schemeClr val="accent3">
                <a:lumMod val="60000"/>
                <a:lumOff val="40000"/>
              </a:schemeClr>
            </a:solidFill>
            <a:tailEnd type="triangle"/>
          </a:ln>
        </p:spPr>
        <p:style>
          <a:lnRef idx="2">
            <a:schemeClr val="accent1"/>
          </a:lnRef>
          <a:fillRef idx="0">
            <a:srgbClr val="FFFFFF"/>
          </a:fillRef>
          <a:effectRef idx="0">
            <a:srgbClr val="FFFFFF"/>
          </a:effectRef>
          <a:fontRef idx="minor">
            <a:schemeClr val="tx1"/>
          </a:fontRef>
        </p:style>
      </p:cxnSp>
      <p:cxnSp>
        <p:nvCxnSpPr>
          <p:cNvPr id="16" name="肘形连接符 15"/>
          <p:cNvCxnSpPr>
            <a:stCxn id="3" idx="3"/>
            <a:endCxn id="12" idx="1"/>
          </p:cNvCxnSpPr>
          <p:nvPr/>
        </p:nvCxnSpPr>
        <p:spPr>
          <a:xfrm flipV="1">
            <a:off x="6062345" y="2585720"/>
            <a:ext cx="2233295" cy="1146175"/>
          </a:xfrm>
          <a:prstGeom prst="bentConnector3">
            <a:avLst>
              <a:gd name="adj1" fmla="val 52999"/>
            </a:avLst>
          </a:prstGeom>
          <a:ln w="31750">
            <a:solidFill>
              <a:schemeClr val="accent3">
                <a:lumMod val="60000"/>
                <a:lumOff val="40000"/>
              </a:schemeClr>
            </a:solidFill>
            <a:tailEnd type="triangle"/>
          </a:ln>
        </p:spPr>
        <p:style>
          <a:lnRef idx="2">
            <a:schemeClr val="accent1"/>
          </a:lnRef>
          <a:fillRef idx="0">
            <a:srgbClr val="FFFFFF"/>
          </a:fillRef>
          <a:effectRef idx="0">
            <a:srgbClr val="FFFFFF"/>
          </a:effectRef>
          <a:fontRef idx="minor">
            <a:schemeClr val="tx1"/>
          </a:fontRef>
        </p:style>
      </p:cxnSp>
      <p:cxnSp>
        <p:nvCxnSpPr>
          <p:cNvPr id="17" name="直接箭头连接符 16"/>
          <p:cNvCxnSpPr>
            <a:endCxn id="4" idx="1"/>
          </p:cNvCxnSpPr>
          <p:nvPr>
            <p:custDataLst>
              <p:tags r:id="rId12"/>
            </p:custDataLst>
          </p:nvPr>
        </p:nvCxnSpPr>
        <p:spPr>
          <a:xfrm>
            <a:off x="6134100" y="3732530"/>
            <a:ext cx="2161540" cy="3175"/>
          </a:xfrm>
          <a:prstGeom prst="straightConnector1">
            <a:avLst/>
          </a:prstGeom>
          <a:ln w="31750">
            <a:solidFill>
              <a:schemeClr val="accent3">
                <a:lumMod val="60000"/>
                <a:lumOff val="40000"/>
              </a:schemeClr>
            </a:solidFill>
            <a:tailEnd type="triangle"/>
          </a:ln>
        </p:spPr>
        <p:style>
          <a:lnRef idx="2">
            <a:schemeClr val="accent1"/>
          </a:lnRef>
          <a:fillRef idx="0">
            <a:srgbClr val="FFFFFF"/>
          </a:fillRef>
          <a:effectRef idx="0">
            <a:srgbClr val="FFFFFF"/>
          </a:effectRef>
          <a:fontRef idx="minor">
            <a:schemeClr val="tx1"/>
          </a:fontRef>
        </p:style>
      </p:cxnSp>
      <p:sp>
        <p:nvSpPr>
          <p:cNvPr id="18" name="椭圆形标注 17"/>
          <p:cNvSpPr/>
          <p:nvPr/>
        </p:nvSpPr>
        <p:spPr>
          <a:xfrm>
            <a:off x="9058910" y="1859280"/>
            <a:ext cx="1188720" cy="579120"/>
          </a:xfrm>
          <a:prstGeom prst="wedgeEllipseCallout">
            <a:avLst>
              <a:gd name="adj1" fmla="val -43910"/>
              <a:gd name="adj2" fmla="val 66447"/>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9" name="椭圆形标注 18"/>
          <p:cNvSpPr/>
          <p:nvPr/>
        </p:nvSpPr>
        <p:spPr>
          <a:xfrm>
            <a:off x="9124950" y="2920365"/>
            <a:ext cx="1188720" cy="579120"/>
          </a:xfrm>
          <a:prstGeom prst="wedgeEllipseCallout">
            <a:avLst>
              <a:gd name="adj1" fmla="val -43910"/>
              <a:gd name="adj2" fmla="val 66447"/>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0" name="椭圆形标注 19"/>
          <p:cNvSpPr/>
          <p:nvPr/>
        </p:nvSpPr>
        <p:spPr>
          <a:xfrm>
            <a:off x="8985250" y="4079240"/>
            <a:ext cx="1188720" cy="579120"/>
          </a:xfrm>
          <a:prstGeom prst="wedgeEllipseCallout">
            <a:avLst>
              <a:gd name="adj1" fmla="val -43910"/>
              <a:gd name="adj2" fmla="val 66447"/>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3" name="文本框 22"/>
          <p:cNvSpPr txBox="1"/>
          <p:nvPr>
            <p:custDataLst>
              <p:tags r:id="rId13"/>
            </p:custDataLst>
          </p:nvPr>
        </p:nvSpPr>
        <p:spPr>
          <a:xfrm>
            <a:off x="9124950" y="1979930"/>
            <a:ext cx="1049020" cy="360680"/>
          </a:xfrm>
          <a:prstGeom prst="rect">
            <a:avLst/>
          </a:prstGeom>
          <a:noFill/>
        </p:spPr>
        <p:txBody>
          <a:bodyPr wrap="square" rtlCol="0">
            <a:noAutofit/>
          </a:bodyPr>
          <a:p>
            <a:r>
              <a:rPr lang="zh-CN" altLang="en-US" sz="800"/>
              <a:t>定一个</a:t>
            </a:r>
            <a:r>
              <a:rPr lang="en-US" altLang="zh-CN" sz="800"/>
              <a:t> 13:20</a:t>
            </a:r>
            <a:r>
              <a:rPr lang="zh-CN" altLang="en-US" sz="800"/>
              <a:t>（甚至更早）的闹钟</a:t>
            </a:r>
            <a:r>
              <a:rPr lang="zh-CN" altLang="en-US" sz="800"/>
              <a:t>参会</a:t>
            </a:r>
            <a:endParaRPr lang="zh-CN" altLang="en-US" sz="800"/>
          </a:p>
        </p:txBody>
      </p:sp>
      <p:sp>
        <p:nvSpPr>
          <p:cNvPr id="24" name="文本框 23"/>
          <p:cNvSpPr txBox="1"/>
          <p:nvPr>
            <p:custDataLst>
              <p:tags r:id="rId14"/>
            </p:custDataLst>
          </p:nvPr>
        </p:nvSpPr>
        <p:spPr>
          <a:xfrm>
            <a:off x="9213850" y="3051810"/>
            <a:ext cx="1049020" cy="360680"/>
          </a:xfrm>
          <a:prstGeom prst="rect">
            <a:avLst/>
          </a:prstGeom>
          <a:noFill/>
        </p:spPr>
        <p:txBody>
          <a:bodyPr wrap="square" rtlCol="0">
            <a:noAutofit/>
          </a:bodyPr>
          <a:p>
            <a:r>
              <a:rPr lang="zh-CN" altLang="en-US" sz="800"/>
              <a:t>定一个</a:t>
            </a:r>
            <a:r>
              <a:rPr lang="en-US" altLang="zh-CN" sz="800"/>
              <a:t> 13:29</a:t>
            </a:r>
            <a:r>
              <a:rPr lang="zh-CN" altLang="en-US" sz="800"/>
              <a:t>的闹钟</a:t>
            </a:r>
            <a:r>
              <a:rPr lang="zh-CN" altLang="en-US" sz="800"/>
              <a:t>参会</a:t>
            </a:r>
            <a:endParaRPr lang="zh-CN" altLang="en-US" sz="800"/>
          </a:p>
        </p:txBody>
      </p:sp>
      <p:sp>
        <p:nvSpPr>
          <p:cNvPr id="25" name="文本框 24"/>
          <p:cNvSpPr txBox="1"/>
          <p:nvPr>
            <p:custDataLst>
              <p:tags r:id="rId15"/>
            </p:custDataLst>
          </p:nvPr>
        </p:nvSpPr>
        <p:spPr>
          <a:xfrm>
            <a:off x="9271000" y="4259580"/>
            <a:ext cx="1049020" cy="360680"/>
          </a:xfrm>
          <a:prstGeom prst="rect">
            <a:avLst/>
          </a:prstGeom>
          <a:noFill/>
        </p:spPr>
        <p:txBody>
          <a:bodyPr wrap="square" rtlCol="0">
            <a:noAutofit/>
          </a:bodyPr>
          <a:p>
            <a:r>
              <a:rPr lang="zh-CN" altLang="en-US" sz="800"/>
              <a:t>直接</a:t>
            </a:r>
            <a:r>
              <a:rPr lang="zh-CN" altLang="en-US" sz="800"/>
              <a:t>不参加</a:t>
            </a:r>
            <a:endParaRPr lang="zh-CN" altLang="en-US" sz="800"/>
          </a:p>
        </p:txBody>
      </p:sp>
      <p:sp>
        <p:nvSpPr>
          <p:cNvPr id="26" name="文本框 25"/>
          <p:cNvSpPr txBox="1"/>
          <p:nvPr>
            <p:custDataLst>
              <p:tags r:id="rId16"/>
            </p:custDataLst>
          </p:nvPr>
        </p:nvSpPr>
        <p:spPr>
          <a:xfrm>
            <a:off x="2814320" y="4178300"/>
            <a:ext cx="465455" cy="245110"/>
          </a:xfrm>
          <a:prstGeom prst="rect">
            <a:avLst/>
          </a:prstGeom>
          <a:noFill/>
        </p:spPr>
        <p:txBody>
          <a:bodyPr wrap="square" rtlCol="0">
            <a:spAutoFit/>
          </a:bodyPr>
          <a:p>
            <a:r>
              <a:rPr lang="zh-CN" altLang="en-US" sz="1000">
                <a:sym typeface="+mn-ea"/>
              </a:rPr>
              <a:t>老师</a:t>
            </a:r>
            <a:endParaRPr lang="zh-CN" altLang="en-US" sz="1000">
              <a:sym typeface="+mn-ea"/>
            </a:endParaRPr>
          </a:p>
        </p:txBody>
      </p:sp>
      <p:sp>
        <p:nvSpPr>
          <p:cNvPr id="27" name="文本框 26"/>
          <p:cNvSpPr txBox="1"/>
          <p:nvPr>
            <p:custDataLst>
              <p:tags r:id="rId17"/>
            </p:custDataLst>
          </p:nvPr>
        </p:nvSpPr>
        <p:spPr>
          <a:xfrm>
            <a:off x="5332095" y="4180205"/>
            <a:ext cx="603885" cy="245110"/>
          </a:xfrm>
          <a:prstGeom prst="rect">
            <a:avLst/>
          </a:prstGeom>
          <a:noFill/>
        </p:spPr>
        <p:txBody>
          <a:bodyPr wrap="square" rtlCol="0">
            <a:spAutoFit/>
          </a:bodyPr>
          <a:p>
            <a:r>
              <a:rPr lang="zh-CN" altLang="en-US" sz="1000">
                <a:sym typeface="+mn-ea"/>
              </a:rPr>
              <a:t>大师兄</a:t>
            </a:r>
            <a:endParaRPr lang="zh-CN" altLang="en-US" sz="1000">
              <a:sym typeface="+mn-ea"/>
            </a:endParaRPr>
          </a:p>
        </p:txBody>
      </p:sp>
      <p:sp>
        <p:nvSpPr>
          <p:cNvPr id="28" name="文本框 27"/>
          <p:cNvSpPr txBox="1"/>
          <p:nvPr>
            <p:custDataLst>
              <p:tags r:id="rId18"/>
            </p:custDataLst>
          </p:nvPr>
        </p:nvSpPr>
        <p:spPr>
          <a:xfrm>
            <a:off x="8455025" y="5421630"/>
            <a:ext cx="603885" cy="245110"/>
          </a:xfrm>
          <a:prstGeom prst="rect">
            <a:avLst/>
          </a:prstGeom>
          <a:noFill/>
        </p:spPr>
        <p:txBody>
          <a:bodyPr wrap="square" rtlCol="0">
            <a:spAutoFit/>
          </a:bodyPr>
          <a:p>
            <a:r>
              <a:rPr lang="zh-CN" altLang="en-US" sz="1000">
                <a:sym typeface="+mn-ea"/>
              </a:rPr>
              <a:t>学生们</a:t>
            </a:r>
            <a:endParaRPr lang="zh-CN" altLang="en-US" sz="1000">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p:cNvSpPr txBox="1"/>
          <p:nvPr/>
        </p:nvSpPr>
        <p:spPr>
          <a:xfrm>
            <a:off x="1990028" y="266857"/>
            <a:ext cx="4506661" cy="545534"/>
          </a:xfrm>
          <a:prstGeom prst="rect">
            <a:avLst/>
          </a:prstGeom>
          <a:noFill/>
        </p:spPr>
        <p:txBody>
          <a:bodyPr wrap="square" rtlCol="0">
            <a:spAutoFit/>
            <a:scene3d>
              <a:camera prst="orthographicFront"/>
              <a:lightRig rig="threePt" dir="t"/>
            </a:scene3d>
            <a:sp3d contourW="12700"/>
          </a:bodyPr>
          <a:lstStyle/>
          <a:p>
            <a:pPr>
              <a:lnSpc>
                <a:spcPct val="114000"/>
              </a:lnSpc>
            </a:pPr>
            <a:r>
              <a:rPr lang="zh-CN" altLang="en-US" sz="2800" b="1" dirty="0">
                <a:solidFill>
                  <a:srgbClr val="152E52"/>
                </a:solidFill>
                <a:ea typeface="+mj-ea"/>
              </a:rPr>
              <a:t>研究思路</a:t>
            </a:r>
            <a:endParaRPr lang="zh-CN" altLang="en-US" sz="2800" b="1" dirty="0">
              <a:solidFill>
                <a:srgbClr val="152E52"/>
              </a:solidFill>
              <a:ea typeface="+mj-ea"/>
            </a:endParaRPr>
          </a:p>
        </p:txBody>
      </p:sp>
      <p:sp>
        <p:nvSpPr>
          <p:cNvPr id="3" name="灯片编号占位符 14"/>
          <p:cNvSpPr>
            <a:spLocks noGrp="1"/>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F8706B9-C4D9-4918-81D4-F2158A241B80}" type="slidenum">
              <a:rPr lang="zh-CN" altLang="en-US" smtClean="0"/>
            </a:fld>
            <a:r>
              <a:rPr lang="en-US" altLang="zh-CN" dirty="0"/>
              <a:t>/18</a:t>
            </a:r>
            <a:endParaRPr lang="zh-CN" altLang="en-US" dirty="0"/>
          </a:p>
        </p:txBody>
      </p:sp>
      <p:sp>
        <p:nvSpPr>
          <p:cNvPr id="2" name="箭头: 右 2"/>
          <p:cNvSpPr/>
          <p:nvPr/>
        </p:nvSpPr>
        <p:spPr>
          <a:xfrm rot="5400000">
            <a:off x="2240303" y="2582498"/>
            <a:ext cx="349641" cy="405442"/>
          </a:xfrm>
          <a:prstGeom prst="rightArrow">
            <a:avLst/>
          </a:prstGeom>
          <a:solidFill>
            <a:srgbClr val="014099"/>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圆角 7"/>
          <p:cNvSpPr/>
          <p:nvPr/>
        </p:nvSpPr>
        <p:spPr>
          <a:xfrm>
            <a:off x="247558" y="1017636"/>
            <a:ext cx="4207147" cy="1521699"/>
          </a:xfrm>
          <a:prstGeom prst="roundRect">
            <a:avLst/>
          </a:prstGeom>
          <a:noFill/>
          <a:ln w="38100">
            <a:solidFill>
              <a:srgbClr val="014099"/>
            </a:solidFill>
          </a:ln>
        </p:spPr>
        <p:style>
          <a:lnRef idx="2">
            <a:schemeClr val="accent1">
              <a:shade val="50000"/>
            </a:schemeClr>
          </a:lnRef>
          <a:fillRef idx="1">
            <a:schemeClr val="accent1"/>
          </a:fillRef>
          <a:effectRef idx="0">
            <a:schemeClr val="accent1"/>
          </a:effectRef>
          <a:fontRef idx="minor">
            <a:schemeClr val="lt1"/>
          </a:fontRef>
        </p:style>
        <p:txBody>
          <a:bodyPr lIns="90000" tIns="0" rIns="90000" bIns="0" rtlCol="0" anchor="ctr"/>
          <a:lstStyle/>
          <a:p>
            <a:pPr>
              <a:lnSpc>
                <a:spcPct val="120000"/>
              </a:lnSpc>
            </a:pPr>
            <a:r>
              <a:rPr lang="zh-CN" altLang="en-US" dirty="0">
                <a:solidFill>
                  <a:schemeClr val="tx1"/>
                </a:solidFill>
                <a:latin typeface="宋体" panose="02010600030101010101" pitchFamily="2" charset="-122"/>
                <a:ea typeface="宋体" panose="02010600030101010101" pitchFamily="2" charset="-122"/>
                <a:cs typeface="阿里巴巴普惠体 3.0 65 Medium" panose="00020600040101010101" pitchFamily="18" charset="-122"/>
              </a:rPr>
              <a:t>问题二：</a:t>
            </a:r>
            <a:endParaRPr lang="en-US" altLang="zh-CN" dirty="0">
              <a:solidFill>
                <a:schemeClr val="tx1"/>
              </a:solidFill>
              <a:latin typeface="阿里巴巴普惠体 3.0 65 Medium" panose="00020600040101010101" pitchFamily="18" charset="-122"/>
              <a:ea typeface="阿里巴巴普惠体 3.0 65 Medium" panose="00020600040101010101" pitchFamily="18" charset="-122"/>
              <a:cs typeface="阿里巴巴普惠体 3.0 65 Medium" panose="00020600040101010101" pitchFamily="18" charset="-122"/>
            </a:endParaRPr>
          </a:p>
          <a:p>
            <a:pPr>
              <a:lnSpc>
                <a:spcPct val="120000"/>
              </a:lnSpc>
            </a:pPr>
            <a:r>
              <a:rPr lang="zh-CN" altLang="en-US" sz="1600" dirty="0">
                <a:solidFill>
                  <a:schemeClr val="tx1"/>
                </a:solidFill>
                <a:latin typeface="宋体" panose="02010600030101010101" pitchFamily="2" charset="-122"/>
                <a:ea typeface="宋体" panose="02010600030101010101" pitchFamily="2" charset="-122"/>
                <a:cs typeface="阿里巴巴普惠体 3.0 55 Regular" panose="00020600040101010101" pitchFamily="18" charset="-122"/>
              </a:rPr>
              <a:t>直接将深度图作为通道输入，网络易受绝对深度值变化的干扰，且难以隐式捕捉表面法向等本质的3D</a:t>
            </a:r>
            <a:r>
              <a:rPr lang="zh-CN" altLang="en-US" sz="1600" dirty="0">
                <a:solidFill>
                  <a:srgbClr val="FF0000"/>
                </a:solidFill>
                <a:latin typeface="宋体" panose="02010600030101010101" pitchFamily="2" charset="-122"/>
                <a:ea typeface="宋体" panose="02010600030101010101" pitchFamily="2" charset="-122"/>
                <a:cs typeface="阿里巴巴普惠体 3.0 55 Regular" panose="00020600040101010101" pitchFamily="18" charset="-122"/>
              </a:rPr>
              <a:t>几何结构</a:t>
            </a:r>
            <a:r>
              <a:rPr lang="zh-CN" altLang="en-US" sz="1600" dirty="0">
                <a:solidFill>
                  <a:schemeClr val="tx1"/>
                </a:solidFill>
                <a:latin typeface="宋体" panose="02010600030101010101" pitchFamily="2" charset="-122"/>
                <a:ea typeface="宋体" panose="02010600030101010101" pitchFamily="2" charset="-122"/>
                <a:cs typeface="阿里巴巴普惠体 3.0 55 Regular" panose="00020600040101010101" pitchFamily="18" charset="-122"/>
              </a:rPr>
              <a:t>。</a:t>
            </a:r>
            <a:endParaRPr lang="zh-CN" altLang="en-US" sz="1600" dirty="0">
              <a:solidFill>
                <a:schemeClr val="tx1"/>
              </a:solidFill>
              <a:latin typeface="宋体" panose="02010600030101010101" pitchFamily="2" charset="-122"/>
              <a:ea typeface="宋体" panose="02010600030101010101" pitchFamily="2" charset="-122"/>
              <a:cs typeface="阿里巴巴普惠体 3.0 55 Regular" panose="00020600040101010101" pitchFamily="18" charset="-122"/>
            </a:endParaRPr>
          </a:p>
        </p:txBody>
      </p:sp>
      <p:sp>
        <p:nvSpPr>
          <p:cNvPr id="10" name="矩形: 圆角 9"/>
          <p:cNvSpPr/>
          <p:nvPr/>
        </p:nvSpPr>
        <p:spPr>
          <a:xfrm>
            <a:off x="247559" y="3021578"/>
            <a:ext cx="4207148" cy="1416020"/>
          </a:xfrm>
          <a:prstGeom prst="roundRect">
            <a:avLst/>
          </a:prstGeom>
          <a:noFill/>
          <a:ln w="38100">
            <a:solidFill>
              <a:srgbClr val="014099"/>
            </a:solidFill>
          </a:ln>
        </p:spPr>
        <p:style>
          <a:lnRef idx="2">
            <a:schemeClr val="accent1">
              <a:shade val="50000"/>
            </a:schemeClr>
          </a:lnRef>
          <a:fillRef idx="1">
            <a:schemeClr val="accent1"/>
          </a:fillRef>
          <a:effectRef idx="0">
            <a:schemeClr val="accent1"/>
          </a:effectRef>
          <a:fontRef idx="minor">
            <a:schemeClr val="lt1"/>
          </a:fontRef>
        </p:style>
        <p:txBody>
          <a:bodyPr lIns="90000" tIns="0" rIns="90000" bIns="0" rtlCol="0" anchor="ctr"/>
          <a:lstStyle/>
          <a:p>
            <a:pPr>
              <a:lnSpc>
                <a:spcPct val="120000"/>
              </a:lnSpc>
            </a:pPr>
            <a:r>
              <a:rPr lang="zh-CN" altLang="en-US" dirty="0">
                <a:solidFill>
                  <a:schemeClr val="tx1"/>
                </a:solidFill>
                <a:latin typeface="宋体" panose="02010600030101010101" pitchFamily="2" charset="-122"/>
                <a:ea typeface="宋体" panose="02010600030101010101" pitchFamily="2" charset="-122"/>
                <a:cs typeface="阿里巴巴普惠体 3.0 65 Medium" panose="00020600040101010101" pitchFamily="18" charset="-122"/>
              </a:rPr>
              <a:t>思路：</a:t>
            </a:r>
            <a:endParaRPr lang="en-US" altLang="zh-CN" dirty="0">
              <a:solidFill>
                <a:schemeClr val="tx1"/>
              </a:solidFill>
              <a:latin typeface="阿里巴巴普惠体 3.0 65 Medium" panose="00020600040101010101" pitchFamily="18" charset="-122"/>
              <a:ea typeface="阿里巴巴普惠体 3.0 65 Medium" panose="00020600040101010101" pitchFamily="18" charset="-122"/>
              <a:cs typeface="阿里巴巴普惠体 3.0 65 Medium" panose="00020600040101010101" pitchFamily="18" charset="-122"/>
            </a:endParaRPr>
          </a:p>
          <a:p>
            <a:pPr>
              <a:lnSpc>
                <a:spcPct val="120000"/>
              </a:lnSpc>
            </a:pPr>
            <a:r>
              <a:rPr lang="zh-CN" altLang="en-US" sz="1600" dirty="0">
                <a:solidFill>
                  <a:schemeClr val="tx1"/>
                </a:solidFill>
                <a:latin typeface="宋体" panose="02010600030101010101" pitchFamily="2" charset="-122"/>
                <a:ea typeface="宋体" panose="02010600030101010101" pitchFamily="2" charset="-122"/>
                <a:cs typeface="宋体" panose="02010600030101010101" pitchFamily="2" charset="-122"/>
              </a:rPr>
              <a:t>利用</a:t>
            </a:r>
            <a:r>
              <a:rPr lang="zh-CN" altLang="en-US" sz="1600" dirty="0">
                <a:solidFill>
                  <a:schemeClr val="tx1"/>
                </a:solidFill>
                <a:latin typeface="宋体" panose="02010600030101010101" pitchFamily="2" charset="-122"/>
                <a:ea typeface="宋体" panose="02010600030101010101" pitchFamily="2" charset="-122"/>
                <a:cs typeface="宋体" panose="02010600030101010101" pitchFamily="2" charset="-122"/>
              </a:rPr>
              <a:t>卷积模块将</a:t>
            </a:r>
            <a:r>
              <a:rPr lang="en-US" altLang="zh-CN" sz="1600" dirty="0">
                <a:solidFill>
                  <a:schemeClr val="tx1"/>
                </a:solidFill>
                <a:latin typeface="宋体" panose="02010600030101010101" pitchFamily="2" charset="-122"/>
                <a:ea typeface="宋体" panose="02010600030101010101" pitchFamily="2" charset="-122"/>
                <a:cs typeface="宋体" panose="02010600030101010101" pitchFamily="2" charset="-122"/>
              </a:rPr>
              <a:t>“</a:t>
            </a:r>
            <a:r>
              <a:rPr lang="zh-CN" altLang="en-US" sz="1600" dirty="0">
                <a:solidFill>
                  <a:schemeClr val="tx1"/>
                </a:solidFill>
                <a:latin typeface="宋体" panose="02010600030101010101" pitchFamily="2" charset="-122"/>
                <a:ea typeface="宋体" panose="02010600030101010101" pitchFamily="2" charset="-122"/>
                <a:cs typeface="宋体" panose="02010600030101010101" pitchFamily="2" charset="-122"/>
              </a:rPr>
              <a:t>距离场</a:t>
            </a:r>
            <a:r>
              <a:rPr lang="en-US" altLang="zh-CN" sz="1600" dirty="0">
                <a:solidFill>
                  <a:schemeClr val="tx1"/>
                </a:solidFill>
                <a:latin typeface="宋体" panose="02010600030101010101" pitchFamily="2" charset="-122"/>
                <a:ea typeface="宋体" panose="02010600030101010101" pitchFamily="2" charset="-122"/>
                <a:cs typeface="宋体" panose="02010600030101010101" pitchFamily="2" charset="-122"/>
              </a:rPr>
              <a:t>”</a:t>
            </a:r>
            <a:r>
              <a:rPr lang="zh-CN" altLang="en-US" sz="1600" dirty="0">
                <a:solidFill>
                  <a:schemeClr val="tx1"/>
                </a:solidFill>
                <a:latin typeface="宋体" panose="02010600030101010101" pitchFamily="2" charset="-122"/>
                <a:ea typeface="宋体" panose="02010600030101010101" pitchFamily="2" charset="-122"/>
                <a:cs typeface="宋体" panose="02010600030101010101" pitchFamily="2" charset="-122"/>
              </a:rPr>
              <a:t>转化为</a:t>
            </a:r>
            <a:r>
              <a:rPr lang="en-US" altLang="zh-CN" sz="1600" dirty="0">
                <a:solidFill>
                  <a:schemeClr val="tx1"/>
                </a:solidFill>
                <a:latin typeface="宋体" panose="02010600030101010101" pitchFamily="2" charset="-122"/>
                <a:ea typeface="宋体" panose="02010600030101010101" pitchFamily="2" charset="-122"/>
                <a:cs typeface="宋体" panose="02010600030101010101" pitchFamily="2" charset="-122"/>
              </a:rPr>
              <a:t>“</a:t>
            </a:r>
            <a:r>
              <a:rPr lang="zh-CN" altLang="en-US" sz="1600" dirty="0">
                <a:solidFill>
                  <a:schemeClr val="tx1"/>
                </a:solidFill>
                <a:latin typeface="宋体" panose="02010600030101010101" pitchFamily="2" charset="-122"/>
                <a:ea typeface="宋体" panose="02010600030101010101" pitchFamily="2" charset="-122"/>
                <a:cs typeface="宋体" panose="02010600030101010101" pitchFamily="2" charset="-122"/>
              </a:rPr>
              <a:t>梯度场</a:t>
            </a:r>
            <a:r>
              <a:rPr lang="en-US" altLang="zh-CN" sz="1600" dirty="0">
                <a:solidFill>
                  <a:schemeClr val="tx1"/>
                </a:solidFill>
                <a:latin typeface="宋体" panose="02010600030101010101" pitchFamily="2" charset="-122"/>
                <a:ea typeface="宋体" panose="02010600030101010101" pitchFamily="2" charset="-122"/>
                <a:cs typeface="宋体" panose="02010600030101010101" pitchFamily="2" charset="-122"/>
              </a:rPr>
              <a:t>”</a:t>
            </a:r>
            <a:r>
              <a:rPr lang="zh-CN" altLang="en-US" sz="1600" dirty="0">
                <a:solidFill>
                  <a:schemeClr val="tx1"/>
                </a:solidFill>
                <a:latin typeface="宋体" panose="02010600030101010101" pitchFamily="2" charset="-122"/>
                <a:ea typeface="宋体" panose="02010600030101010101" pitchFamily="2" charset="-122"/>
                <a:cs typeface="宋体" panose="02010600030101010101" pitchFamily="2" charset="-122"/>
              </a:rPr>
              <a:t>，显式提取深度的空间变化率以表征物体形状。</a:t>
            </a:r>
            <a:endParaRPr lang="zh-CN" altLang="en-US" sz="1600" dirty="0">
              <a:solidFill>
                <a:schemeClr val="tx1"/>
              </a:solidFill>
              <a:latin typeface="宋体" panose="02010600030101010101" pitchFamily="2" charset="-122"/>
              <a:ea typeface="宋体" panose="02010600030101010101" pitchFamily="2" charset="-122"/>
              <a:cs typeface="宋体" panose="02010600030101010101" pitchFamily="2" charset="-122"/>
            </a:endParaRPr>
          </a:p>
        </p:txBody>
      </p:sp>
      <p:sp>
        <p:nvSpPr>
          <p:cNvPr id="4" name="矩形: 圆角 10"/>
          <p:cNvSpPr/>
          <p:nvPr/>
        </p:nvSpPr>
        <p:spPr>
          <a:xfrm>
            <a:off x="247650" y="4963160"/>
            <a:ext cx="4206875" cy="1576705"/>
          </a:xfrm>
          <a:prstGeom prst="roundRect">
            <a:avLst/>
          </a:prstGeom>
          <a:noFill/>
          <a:ln w="38100">
            <a:solidFill>
              <a:srgbClr val="014099"/>
            </a:solidFill>
          </a:ln>
        </p:spPr>
        <p:style>
          <a:lnRef idx="2">
            <a:schemeClr val="accent1">
              <a:shade val="50000"/>
            </a:schemeClr>
          </a:lnRef>
          <a:fillRef idx="1">
            <a:schemeClr val="accent1"/>
          </a:fillRef>
          <a:effectRef idx="0">
            <a:schemeClr val="accent1"/>
          </a:effectRef>
          <a:fontRef idx="minor">
            <a:schemeClr val="lt1"/>
          </a:fontRef>
        </p:style>
        <p:txBody>
          <a:bodyPr lIns="72000" tIns="0" rIns="90000" bIns="0" rtlCol="0" anchor="ctr"/>
          <a:lstStyle/>
          <a:p>
            <a:pPr>
              <a:lnSpc>
                <a:spcPct val="120000"/>
              </a:lnSpc>
            </a:pPr>
            <a:r>
              <a:rPr lang="zh-CN" altLang="en-US" dirty="0">
                <a:solidFill>
                  <a:schemeClr val="tx1"/>
                </a:solidFill>
                <a:latin typeface="宋体" panose="02010600030101010101" pitchFamily="2" charset="-122"/>
                <a:ea typeface="宋体" panose="02010600030101010101" pitchFamily="2" charset="-122"/>
                <a:cs typeface="阿里巴巴普惠体 3.0 65 Medium" panose="00020600040101010101" pitchFamily="18" charset="-122"/>
              </a:rPr>
              <a:t>方案：</a:t>
            </a:r>
            <a:endParaRPr lang="en-US" altLang="zh-CN" dirty="0">
              <a:solidFill>
                <a:schemeClr val="tx1"/>
              </a:solidFill>
              <a:latin typeface="阿里巴巴普惠体 3.0 65 Medium" panose="00020600040101010101" pitchFamily="18" charset="-122"/>
              <a:ea typeface="阿里巴巴普惠体 3.0 65 Medium" panose="00020600040101010101" pitchFamily="18" charset="-122"/>
              <a:cs typeface="阿里巴巴普惠体 3.0 65 Medium" panose="00020600040101010101" pitchFamily="18" charset="-122"/>
            </a:endParaRPr>
          </a:p>
          <a:p>
            <a:pPr>
              <a:lnSpc>
                <a:spcPct val="120000"/>
              </a:lnSpc>
            </a:pPr>
            <a:r>
              <a:rPr lang="zh-CN" altLang="en-US" sz="1600" dirty="0">
                <a:solidFill>
                  <a:schemeClr val="tx1"/>
                </a:solidFill>
                <a:latin typeface="宋体" panose="02010600030101010101" pitchFamily="2" charset="-122"/>
                <a:ea typeface="宋体" panose="02010600030101010101" pitchFamily="2" charset="-122"/>
                <a:cs typeface="阿里巴巴普惠体 3.0 55 Regular" panose="00020600040101010101" pitchFamily="18" charset="-122"/>
              </a:rPr>
              <a:t>引入中心差分卷积模块CDC，CDC通过可学习的梯度聚合机制，同时捕获细粒度的深度纹理与局部相对距离，增强网络对</a:t>
            </a:r>
            <a:r>
              <a:rPr lang="zh-CN" altLang="en-US" sz="1600" dirty="0">
                <a:solidFill>
                  <a:srgbClr val="FF0000"/>
                </a:solidFill>
                <a:latin typeface="宋体" panose="02010600030101010101" pitchFamily="2" charset="-122"/>
                <a:ea typeface="宋体" panose="02010600030101010101" pitchFamily="2" charset="-122"/>
                <a:cs typeface="阿里巴巴普惠体 3.0 55 Regular" panose="00020600040101010101" pitchFamily="18" charset="-122"/>
              </a:rPr>
              <a:t>无人机视角</a:t>
            </a:r>
            <a:r>
              <a:rPr lang="zh-CN" altLang="en-US" sz="1600" dirty="0">
                <a:solidFill>
                  <a:schemeClr val="tx1"/>
                </a:solidFill>
                <a:latin typeface="宋体" panose="02010600030101010101" pitchFamily="2" charset="-122"/>
                <a:ea typeface="宋体" panose="02010600030101010101" pitchFamily="2" charset="-122"/>
                <a:cs typeface="阿里巴巴普惠体 3.0 55 Regular" panose="00020600040101010101" pitchFamily="18" charset="-122"/>
              </a:rPr>
              <a:t>下微小物体表面几何结构的感知能力</a:t>
            </a:r>
            <a:endParaRPr lang="zh-CN" altLang="en-US" sz="1600" b="1" dirty="0">
              <a:solidFill>
                <a:schemeClr val="tx1"/>
              </a:solidFill>
              <a:latin typeface="宋体" panose="02010600030101010101" pitchFamily="2" charset="-122"/>
              <a:ea typeface="宋体" panose="02010600030101010101" pitchFamily="2" charset="-122"/>
              <a:cs typeface="宋体" panose="02010600030101010101" pitchFamily="2" charset="-122"/>
            </a:endParaRPr>
          </a:p>
        </p:txBody>
      </p:sp>
      <p:sp>
        <p:nvSpPr>
          <p:cNvPr id="12" name="箭头: 右 11"/>
          <p:cNvSpPr/>
          <p:nvPr/>
        </p:nvSpPr>
        <p:spPr>
          <a:xfrm rot="5400000">
            <a:off x="2240303" y="4490287"/>
            <a:ext cx="349641" cy="405442"/>
          </a:xfrm>
          <a:prstGeom prst="rightArrow">
            <a:avLst/>
          </a:prstGeom>
          <a:solidFill>
            <a:srgbClr val="014099"/>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4763441" y="1017636"/>
            <a:ext cx="5923749" cy="1198880"/>
          </a:xfrm>
          <a:prstGeom prst="rect">
            <a:avLst/>
          </a:prstGeom>
          <a:noFill/>
        </p:spPr>
        <p:txBody>
          <a:bodyPr wrap="square">
            <a:spAutoFit/>
          </a:bodyPr>
          <a:lstStyle/>
          <a:p>
            <a:pPr>
              <a:lnSpc>
                <a:spcPct val="150000"/>
              </a:lnSpc>
            </a:pPr>
            <a:r>
              <a:rPr lang="zh-CN" altLang="en-US" sz="2400" b="1" dirty="0">
                <a:latin typeface="阿里巴巴普惠体 3.0 55 Regular" panose="00020600040101010101" pitchFamily="18" charset="-122"/>
                <a:ea typeface="阿里巴巴普惠体 3.0 55 Regular" panose="00020600040101010101" pitchFamily="18" charset="-122"/>
                <a:cs typeface="阿里巴巴普惠体 3.0 55 Regular" panose="00020600040101010101" pitchFamily="18" charset="-122"/>
              </a:rPr>
              <a:t>研究内容</a:t>
            </a:r>
            <a:r>
              <a:rPr lang="zh-CN" altLang="en-US" sz="2400" b="1" dirty="0">
                <a:latin typeface="阿里巴巴普惠体 3.0 55 Regular" panose="00020600040101010101" pitchFamily="18" charset="-122"/>
                <a:ea typeface="阿里巴巴普惠体 3.0 55 Regular" panose="00020600040101010101" pitchFamily="18" charset="-122"/>
                <a:cs typeface="阿里巴巴普惠体 3.0 55 Regular" panose="00020600040101010101" pitchFamily="18" charset="-122"/>
              </a:rPr>
              <a:t>二：</a:t>
            </a:r>
            <a:r>
              <a:rPr lang="zh-CN" altLang="en-US" sz="2400" b="1" dirty="0">
                <a:latin typeface="宋体" panose="02010600030101010101" pitchFamily="2" charset="-122"/>
                <a:ea typeface="宋体" panose="02010600030101010101" pitchFamily="2" charset="-122"/>
                <a:cs typeface="阿里巴巴普惠体 3.0 55 Regular" panose="00020600040101010101" pitchFamily="18" charset="-122"/>
                <a:sym typeface="+mn-ea"/>
              </a:rPr>
              <a:t>如何提升深度估计模型在无人机航拍图像的表现</a:t>
            </a:r>
            <a:endParaRPr lang="zh-CN" altLang="en-US" sz="2400" dirty="0">
              <a:solidFill>
                <a:schemeClr val="tx1"/>
              </a:solidFill>
              <a:latin typeface="阿里巴巴普惠体 3.0 55 Regular" panose="00020600040101010101" pitchFamily="18" charset="-122"/>
              <a:ea typeface="阿里巴巴普惠体 3.0 55 Regular" panose="00020600040101010101" pitchFamily="18" charset="-122"/>
              <a:cs typeface="阿里巴巴普惠体 3.0 55 Regular" panose="00020600040101010101" pitchFamily="18" charset="-122"/>
            </a:endParaRPr>
          </a:p>
        </p:txBody>
      </p:sp>
      <p:pic>
        <p:nvPicPr>
          <p:cNvPr id="7" name="图片 6" descr="jiHeXianYan"/>
          <p:cNvPicPr>
            <a:picLocks noChangeAspect="1"/>
          </p:cNvPicPr>
          <p:nvPr/>
        </p:nvPicPr>
        <p:blipFill>
          <a:blip r:embed="rId1"/>
          <a:stretch>
            <a:fillRect/>
          </a:stretch>
        </p:blipFill>
        <p:spPr>
          <a:xfrm>
            <a:off x="4685665" y="3145155"/>
            <a:ext cx="7264400" cy="2581275"/>
          </a:xfrm>
          <a:prstGeom prst="rect">
            <a:avLst/>
          </a:prstGeom>
        </p:spPr>
      </p:pic>
    </p:spTree>
  </p:cSld>
  <p:clrMapOvr>
    <a:masterClrMapping/>
  </p:clrMapOvr>
  <p:transition spd="slow"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500"/>
                                        <p:tgtEl>
                                          <p:spTgt spid="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wipe(down)">
                                      <p:cBhvr>
                                        <p:cTn id="3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8" grpId="0" bldLvl="0" animBg="1"/>
      <p:bldP spid="10" grpId="0" bldLvl="0" animBg="1"/>
      <p:bldP spid="4" grpId="0" bldLvl="0" animBg="1"/>
      <p:bldP spid="12" grpId="0" bldLvl="0" animBg="1"/>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p:cNvSpPr txBox="1"/>
          <p:nvPr/>
        </p:nvSpPr>
        <p:spPr>
          <a:xfrm>
            <a:off x="1990028" y="266857"/>
            <a:ext cx="4506661" cy="545534"/>
          </a:xfrm>
          <a:prstGeom prst="rect">
            <a:avLst/>
          </a:prstGeom>
          <a:noFill/>
        </p:spPr>
        <p:txBody>
          <a:bodyPr wrap="square" rtlCol="0">
            <a:spAutoFit/>
            <a:scene3d>
              <a:camera prst="orthographicFront"/>
              <a:lightRig rig="threePt" dir="t"/>
            </a:scene3d>
            <a:sp3d contourW="12700"/>
          </a:bodyPr>
          <a:lstStyle/>
          <a:p>
            <a:pPr>
              <a:lnSpc>
                <a:spcPct val="114000"/>
              </a:lnSpc>
            </a:pPr>
            <a:r>
              <a:rPr lang="zh-CN" altLang="en-US" sz="2800" b="1" dirty="0">
                <a:solidFill>
                  <a:srgbClr val="152E52"/>
                </a:solidFill>
                <a:ea typeface="+mj-ea"/>
              </a:rPr>
              <a:t>研究思路</a:t>
            </a:r>
            <a:endParaRPr lang="zh-CN" altLang="en-US" sz="2800" b="1" dirty="0">
              <a:solidFill>
                <a:srgbClr val="152E52"/>
              </a:solidFill>
              <a:ea typeface="+mj-ea"/>
            </a:endParaRPr>
          </a:p>
        </p:txBody>
      </p:sp>
      <p:sp>
        <p:nvSpPr>
          <p:cNvPr id="3" name="灯片编号占位符 14"/>
          <p:cNvSpPr>
            <a:spLocks noGrp="1"/>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F8706B9-C4D9-4918-81D4-F2158A241B80}" type="slidenum">
              <a:rPr lang="zh-CN" altLang="en-US" smtClean="0"/>
            </a:fld>
            <a:r>
              <a:rPr lang="en-US" altLang="zh-CN" dirty="0"/>
              <a:t>/18</a:t>
            </a:r>
            <a:endParaRPr lang="zh-CN" altLang="en-US" dirty="0"/>
          </a:p>
        </p:txBody>
      </p:sp>
      <p:sp>
        <p:nvSpPr>
          <p:cNvPr id="2" name="箭头: 右 2"/>
          <p:cNvSpPr/>
          <p:nvPr/>
        </p:nvSpPr>
        <p:spPr>
          <a:xfrm rot="5400000">
            <a:off x="2240303" y="2639648"/>
            <a:ext cx="349641" cy="405442"/>
          </a:xfrm>
          <a:prstGeom prst="rightArrow">
            <a:avLst/>
          </a:prstGeom>
          <a:solidFill>
            <a:srgbClr val="014099"/>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圆角 7"/>
          <p:cNvSpPr/>
          <p:nvPr/>
        </p:nvSpPr>
        <p:spPr>
          <a:xfrm>
            <a:off x="247558" y="1017636"/>
            <a:ext cx="4207147" cy="1521699"/>
          </a:xfrm>
          <a:prstGeom prst="roundRect">
            <a:avLst/>
          </a:prstGeom>
          <a:noFill/>
          <a:ln w="38100">
            <a:solidFill>
              <a:srgbClr val="014099"/>
            </a:solidFill>
          </a:ln>
        </p:spPr>
        <p:style>
          <a:lnRef idx="2">
            <a:schemeClr val="accent1">
              <a:shade val="50000"/>
            </a:schemeClr>
          </a:lnRef>
          <a:fillRef idx="1">
            <a:schemeClr val="accent1"/>
          </a:fillRef>
          <a:effectRef idx="0">
            <a:schemeClr val="accent1"/>
          </a:effectRef>
          <a:fontRef idx="minor">
            <a:schemeClr val="lt1"/>
          </a:fontRef>
        </p:style>
        <p:txBody>
          <a:bodyPr lIns="90000" tIns="0" rIns="90000" bIns="0" rtlCol="0" anchor="ctr"/>
          <a:lstStyle/>
          <a:p>
            <a:pPr>
              <a:lnSpc>
                <a:spcPct val="120000"/>
              </a:lnSpc>
            </a:pPr>
            <a:r>
              <a:rPr lang="zh-CN" altLang="en-US" dirty="0">
                <a:solidFill>
                  <a:schemeClr val="tx1"/>
                </a:solidFill>
                <a:latin typeface="宋体" panose="02010600030101010101" pitchFamily="2" charset="-122"/>
                <a:ea typeface="宋体" panose="02010600030101010101" pitchFamily="2" charset="-122"/>
                <a:cs typeface="阿里巴巴普惠体 3.0 65 Medium" panose="00020600040101010101" pitchFamily="18" charset="-122"/>
              </a:rPr>
              <a:t>问题三：</a:t>
            </a:r>
            <a:endParaRPr lang="en-US" altLang="zh-CN" dirty="0">
              <a:solidFill>
                <a:schemeClr val="tx1"/>
              </a:solidFill>
              <a:latin typeface="阿里巴巴普惠体 3.0 65 Medium" panose="00020600040101010101" pitchFamily="18" charset="-122"/>
              <a:ea typeface="阿里巴巴普惠体 3.0 65 Medium" panose="00020600040101010101" pitchFamily="18" charset="-122"/>
              <a:cs typeface="阿里巴巴普惠体 3.0 65 Medium" panose="00020600040101010101" pitchFamily="18" charset="-122"/>
            </a:endParaRPr>
          </a:p>
          <a:p>
            <a:pPr>
              <a:lnSpc>
                <a:spcPct val="120000"/>
              </a:lnSpc>
            </a:pPr>
            <a:r>
              <a:rPr lang="zh-CN" altLang="en-US" sz="1600" dirty="0">
                <a:solidFill>
                  <a:schemeClr val="tx1"/>
                </a:solidFill>
                <a:latin typeface="宋体" panose="02010600030101010101" pitchFamily="2" charset="-122"/>
                <a:ea typeface="宋体" panose="02010600030101010101" pitchFamily="2" charset="-122"/>
                <a:cs typeface="宋体" panose="02010600030101010101" pitchFamily="2" charset="-122"/>
              </a:rPr>
              <a:t>深度估计图往往存在局部不确定性与伪影，直接融合会引入噪声干扰；且几何信息在深层网络中极易被</a:t>
            </a:r>
            <a:r>
              <a:rPr lang="zh-CN" altLang="en-US" sz="1600" dirty="0">
                <a:solidFill>
                  <a:srgbClr val="FF0000"/>
                </a:solidFill>
                <a:latin typeface="宋体" panose="02010600030101010101" pitchFamily="2" charset="-122"/>
                <a:ea typeface="宋体" panose="02010600030101010101" pitchFamily="2" charset="-122"/>
                <a:cs typeface="宋体" panose="02010600030101010101" pitchFamily="2" charset="-122"/>
              </a:rPr>
              <a:t>RGB特征稀释</a:t>
            </a:r>
            <a:r>
              <a:rPr lang="zh-CN" altLang="en-US" sz="1600" dirty="0">
                <a:solidFill>
                  <a:schemeClr val="tx1"/>
                </a:solidFill>
                <a:latin typeface="宋体" panose="02010600030101010101" pitchFamily="2" charset="-122"/>
                <a:ea typeface="宋体" panose="02010600030101010101" pitchFamily="2" charset="-122"/>
                <a:cs typeface="宋体" panose="02010600030101010101" pitchFamily="2" charset="-122"/>
              </a:rPr>
              <a:t>。</a:t>
            </a:r>
            <a:endParaRPr lang="zh-CN" altLang="en-US" sz="1600" dirty="0">
              <a:solidFill>
                <a:schemeClr val="tx1"/>
              </a:solidFill>
              <a:latin typeface="宋体" panose="02010600030101010101" pitchFamily="2" charset="-122"/>
              <a:ea typeface="宋体" panose="02010600030101010101" pitchFamily="2" charset="-122"/>
              <a:cs typeface="宋体" panose="02010600030101010101" pitchFamily="2" charset="-122"/>
            </a:endParaRPr>
          </a:p>
        </p:txBody>
      </p:sp>
      <p:sp>
        <p:nvSpPr>
          <p:cNvPr id="10" name="矩形: 圆角 9"/>
          <p:cNvSpPr/>
          <p:nvPr/>
        </p:nvSpPr>
        <p:spPr>
          <a:xfrm>
            <a:off x="247559" y="3145403"/>
            <a:ext cx="4207148" cy="1416020"/>
          </a:xfrm>
          <a:prstGeom prst="roundRect">
            <a:avLst/>
          </a:prstGeom>
          <a:noFill/>
          <a:ln w="38100">
            <a:solidFill>
              <a:srgbClr val="014099"/>
            </a:solidFill>
          </a:ln>
        </p:spPr>
        <p:style>
          <a:lnRef idx="2">
            <a:schemeClr val="accent1">
              <a:shade val="50000"/>
            </a:schemeClr>
          </a:lnRef>
          <a:fillRef idx="1">
            <a:schemeClr val="accent1"/>
          </a:fillRef>
          <a:effectRef idx="0">
            <a:schemeClr val="accent1"/>
          </a:effectRef>
          <a:fontRef idx="minor">
            <a:schemeClr val="lt1"/>
          </a:fontRef>
        </p:style>
        <p:txBody>
          <a:bodyPr lIns="90000" tIns="0" rIns="90000" bIns="0" rtlCol="0" anchor="ctr"/>
          <a:lstStyle/>
          <a:p>
            <a:pPr>
              <a:lnSpc>
                <a:spcPct val="120000"/>
              </a:lnSpc>
            </a:pPr>
            <a:r>
              <a:rPr lang="zh-CN" altLang="en-US" dirty="0">
                <a:solidFill>
                  <a:schemeClr val="tx1"/>
                </a:solidFill>
                <a:latin typeface="宋体" panose="02010600030101010101" pitchFamily="2" charset="-122"/>
                <a:ea typeface="宋体" panose="02010600030101010101" pitchFamily="2" charset="-122"/>
                <a:cs typeface="阿里巴巴普惠体 3.0 65 Medium" panose="00020600040101010101" pitchFamily="18" charset="-122"/>
              </a:rPr>
              <a:t>思路：</a:t>
            </a:r>
            <a:endParaRPr lang="en-US" altLang="zh-CN" dirty="0">
              <a:solidFill>
                <a:schemeClr val="tx1"/>
              </a:solidFill>
              <a:latin typeface="阿里巴巴普惠体 3.0 65 Medium" panose="00020600040101010101" pitchFamily="18" charset="-122"/>
              <a:ea typeface="阿里巴巴普惠体 3.0 65 Medium" panose="00020600040101010101" pitchFamily="18" charset="-122"/>
              <a:cs typeface="阿里巴巴普惠体 3.0 65 Medium" panose="00020600040101010101" pitchFamily="18" charset="-122"/>
            </a:endParaRPr>
          </a:p>
          <a:p>
            <a:pPr>
              <a:lnSpc>
                <a:spcPct val="120000"/>
              </a:lnSpc>
            </a:pPr>
            <a:r>
              <a:rPr lang="zh-CN" altLang="en-US" sz="1600" dirty="0">
                <a:solidFill>
                  <a:schemeClr val="tx1"/>
                </a:solidFill>
                <a:latin typeface="宋体" panose="02010600030101010101" pitchFamily="2" charset="-122"/>
                <a:ea typeface="宋体" panose="02010600030101010101" pitchFamily="2" charset="-122"/>
                <a:cs typeface="宋体" panose="02010600030101010101" pitchFamily="2" charset="-122"/>
              </a:rPr>
              <a:t>基于局部方差构建置信度评估机制，对特征进行加权筛选（</a:t>
            </a:r>
            <a:r>
              <a:rPr lang="en-US" altLang="zh-CN" sz="1600" dirty="0">
                <a:solidFill>
                  <a:schemeClr val="tx1"/>
                </a:solidFill>
                <a:latin typeface="宋体" panose="02010600030101010101" pitchFamily="2" charset="-122"/>
                <a:ea typeface="宋体" panose="02010600030101010101" pitchFamily="2" charset="-122"/>
                <a:cs typeface="宋体" panose="02010600030101010101" pitchFamily="2" charset="-122"/>
              </a:rPr>
              <a:t>“</a:t>
            </a:r>
            <a:r>
              <a:rPr lang="zh-CN" altLang="en-US" sz="1600" dirty="0">
                <a:solidFill>
                  <a:schemeClr val="tx1"/>
                </a:solidFill>
                <a:latin typeface="宋体" panose="02010600030101010101" pitchFamily="2" charset="-122"/>
                <a:ea typeface="宋体" panose="02010600030101010101" pitchFamily="2" charset="-122"/>
                <a:cs typeface="宋体" panose="02010600030101010101" pitchFamily="2" charset="-122"/>
              </a:rPr>
              <a:t>去伪存真</a:t>
            </a:r>
            <a:r>
              <a:rPr lang="en-US" altLang="zh-CN" sz="1600" dirty="0">
                <a:solidFill>
                  <a:schemeClr val="tx1"/>
                </a:solidFill>
                <a:latin typeface="宋体" panose="02010600030101010101" pitchFamily="2" charset="-122"/>
                <a:ea typeface="宋体" panose="02010600030101010101" pitchFamily="2" charset="-122"/>
                <a:cs typeface="宋体" panose="02010600030101010101" pitchFamily="2" charset="-122"/>
              </a:rPr>
              <a:t>”</a:t>
            </a:r>
            <a:r>
              <a:rPr lang="zh-CN" altLang="en-US" sz="1600" dirty="0">
                <a:solidFill>
                  <a:schemeClr val="tx1"/>
                </a:solidFill>
                <a:latin typeface="宋体" panose="02010600030101010101" pitchFamily="2" charset="-122"/>
                <a:ea typeface="宋体" panose="02010600030101010101" pitchFamily="2" charset="-122"/>
                <a:cs typeface="宋体" panose="02010600030101010101" pitchFamily="2" charset="-122"/>
              </a:rPr>
              <a:t>），并建立跨层通路防止几何信息遗忘。</a:t>
            </a:r>
            <a:endParaRPr lang="zh-CN" altLang="en-US" sz="1600" dirty="0">
              <a:solidFill>
                <a:schemeClr val="tx1"/>
              </a:solidFill>
              <a:latin typeface="宋体" panose="02010600030101010101" pitchFamily="2" charset="-122"/>
              <a:ea typeface="宋体" panose="02010600030101010101" pitchFamily="2" charset="-122"/>
              <a:cs typeface="宋体" panose="02010600030101010101" pitchFamily="2" charset="-122"/>
            </a:endParaRPr>
          </a:p>
        </p:txBody>
      </p:sp>
      <p:sp>
        <p:nvSpPr>
          <p:cNvPr id="4" name="矩形: 圆角 10"/>
          <p:cNvSpPr/>
          <p:nvPr/>
        </p:nvSpPr>
        <p:spPr>
          <a:xfrm>
            <a:off x="247650" y="5039360"/>
            <a:ext cx="4206875" cy="1667510"/>
          </a:xfrm>
          <a:prstGeom prst="roundRect">
            <a:avLst/>
          </a:prstGeom>
          <a:noFill/>
          <a:ln w="38100">
            <a:solidFill>
              <a:srgbClr val="014099"/>
            </a:solidFill>
          </a:ln>
        </p:spPr>
        <p:style>
          <a:lnRef idx="2">
            <a:schemeClr val="accent1">
              <a:shade val="50000"/>
            </a:schemeClr>
          </a:lnRef>
          <a:fillRef idx="1">
            <a:schemeClr val="accent1"/>
          </a:fillRef>
          <a:effectRef idx="0">
            <a:schemeClr val="accent1"/>
          </a:effectRef>
          <a:fontRef idx="minor">
            <a:schemeClr val="lt1"/>
          </a:fontRef>
        </p:style>
        <p:txBody>
          <a:bodyPr lIns="72000" tIns="0" rIns="90000" bIns="0" rtlCol="0" anchor="ctr"/>
          <a:lstStyle/>
          <a:p>
            <a:pPr>
              <a:lnSpc>
                <a:spcPct val="120000"/>
              </a:lnSpc>
            </a:pPr>
            <a:r>
              <a:rPr lang="zh-CN" altLang="en-US" dirty="0">
                <a:solidFill>
                  <a:schemeClr val="tx1"/>
                </a:solidFill>
                <a:latin typeface="宋体" panose="02010600030101010101" pitchFamily="2" charset="-122"/>
                <a:ea typeface="宋体" panose="02010600030101010101" pitchFamily="2" charset="-122"/>
                <a:cs typeface="阿里巴巴普惠体 3.0 65 Medium" panose="00020600040101010101" pitchFamily="18" charset="-122"/>
              </a:rPr>
              <a:t>方案：</a:t>
            </a:r>
            <a:endParaRPr lang="en-US" altLang="zh-CN" dirty="0">
              <a:solidFill>
                <a:schemeClr val="tx1"/>
              </a:solidFill>
              <a:latin typeface="宋体" panose="02010600030101010101" pitchFamily="2" charset="-122"/>
              <a:ea typeface="宋体" panose="02010600030101010101" pitchFamily="2" charset="-122"/>
              <a:cs typeface="阿里巴巴普惠体 3.0 65 Medium" panose="00020600040101010101" pitchFamily="18" charset="-122"/>
            </a:endParaRPr>
          </a:p>
          <a:p>
            <a:pPr>
              <a:lnSpc>
                <a:spcPct val="120000"/>
              </a:lnSpc>
            </a:pPr>
            <a:r>
              <a:rPr lang="zh-CN" altLang="en-US" sz="1600" dirty="0">
                <a:solidFill>
                  <a:schemeClr val="tx1"/>
                </a:solidFill>
                <a:latin typeface="宋体" panose="02010600030101010101" pitchFamily="2" charset="-122"/>
                <a:ea typeface="宋体" panose="02010600030101010101" pitchFamily="2" charset="-122"/>
                <a:cs typeface="宋体" panose="02010600030101010101" pitchFamily="2" charset="-122"/>
              </a:rPr>
              <a:t>构建跨尺度几何显著性引导机制。引入质量加权的</a:t>
            </a:r>
            <a:r>
              <a:rPr lang="zh-CN" altLang="en-US" sz="1600" dirty="0">
                <a:solidFill>
                  <a:srgbClr val="FF0000"/>
                </a:solidFill>
                <a:latin typeface="宋体" panose="02010600030101010101" pitchFamily="2" charset="-122"/>
                <a:ea typeface="宋体" panose="02010600030101010101" pitchFamily="2" charset="-122"/>
                <a:cs typeface="宋体" panose="02010600030101010101" pitchFamily="2" charset="-122"/>
              </a:rPr>
              <a:t>注意力门控</a:t>
            </a:r>
            <a:r>
              <a:rPr lang="zh-CN" altLang="en-US" sz="1600" dirty="0">
                <a:solidFill>
                  <a:schemeClr val="tx1"/>
                </a:solidFill>
                <a:latin typeface="宋体" panose="02010600030101010101" pitchFamily="2" charset="-122"/>
                <a:ea typeface="宋体" panose="02010600030101010101" pitchFamily="2" charset="-122"/>
                <a:cs typeface="宋体" panose="02010600030101010101" pitchFamily="2" charset="-122"/>
              </a:rPr>
              <a:t>滤除伪影干扰;以残差流形式直接引导深层特征的聚合方向,防止几何信息在下采样过程中丢失。</a:t>
            </a:r>
            <a:endParaRPr lang="zh-CN" altLang="en-US" sz="1400" b="1" dirty="0">
              <a:solidFill>
                <a:schemeClr val="tx1"/>
              </a:solidFill>
              <a:latin typeface="宋体" panose="02010600030101010101" pitchFamily="2" charset="-122"/>
              <a:ea typeface="宋体" panose="02010600030101010101" pitchFamily="2" charset="-122"/>
              <a:cs typeface="宋体" panose="02010600030101010101" pitchFamily="2" charset="-122"/>
            </a:endParaRPr>
          </a:p>
        </p:txBody>
      </p:sp>
      <p:sp>
        <p:nvSpPr>
          <p:cNvPr id="12" name="箭头: 右 11"/>
          <p:cNvSpPr/>
          <p:nvPr/>
        </p:nvSpPr>
        <p:spPr>
          <a:xfrm rot="5400000">
            <a:off x="2240303" y="4633162"/>
            <a:ext cx="349641" cy="405442"/>
          </a:xfrm>
          <a:prstGeom prst="rightArrow">
            <a:avLst/>
          </a:prstGeom>
          <a:solidFill>
            <a:srgbClr val="014099"/>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4763441" y="1017636"/>
            <a:ext cx="5923749" cy="1198880"/>
          </a:xfrm>
          <a:prstGeom prst="rect">
            <a:avLst/>
          </a:prstGeom>
          <a:noFill/>
        </p:spPr>
        <p:txBody>
          <a:bodyPr wrap="square">
            <a:spAutoFit/>
          </a:bodyPr>
          <a:lstStyle/>
          <a:p>
            <a:pPr>
              <a:lnSpc>
                <a:spcPct val="150000"/>
              </a:lnSpc>
            </a:pPr>
            <a:r>
              <a:rPr lang="zh-CN" altLang="en-US" sz="2400" b="1" dirty="0">
                <a:latin typeface="阿里巴巴普惠体 3.0 55 Regular" panose="00020600040101010101" pitchFamily="18" charset="-122"/>
                <a:ea typeface="阿里巴巴普惠体 3.0 55 Regular" panose="00020600040101010101" pitchFamily="18" charset="-122"/>
                <a:cs typeface="阿里巴巴普惠体 3.0 55 Regular" panose="00020600040101010101" pitchFamily="18" charset="-122"/>
              </a:rPr>
              <a:t>研究内容二：</a:t>
            </a:r>
            <a:r>
              <a:rPr lang="zh-CN" altLang="en-US" sz="2400" b="1" dirty="0">
                <a:latin typeface="宋体" panose="02010600030101010101" pitchFamily="2" charset="-122"/>
                <a:ea typeface="宋体" panose="02010600030101010101" pitchFamily="2" charset="-122"/>
                <a:cs typeface="阿里巴巴普惠体 3.0 55 Regular" panose="00020600040101010101" pitchFamily="18" charset="-122"/>
                <a:sym typeface="+mn-ea"/>
              </a:rPr>
              <a:t>如何提升</a:t>
            </a:r>
            <a:r>
              <a:rPr lang="en-US" altLang="zh-CN" sz="2400" b="1" dirty="0">
                <a:latin typeface="宋体" panose="02010600030101010101" pitchFamily="2" charset="-122"/>
                <a:ea typeface="宋体" panose="02010600030101010101" pitchFamily="2" charset="-122"/>
                <a:cs typeface="阿里巴巴普惠体 3.0 55 Regular" panose="00020600040101010101" pitchFamily="18" charset="-122"/>
                <a:sym typeface="+mn-ea"/>
              </a:rPr>
              <a:t>RGBD</a:t>
            </a:r>
            <a:r>
              <a:rPr lang="zh-CN" altLang="en-US" sz="2400" b="1" dirty="0">
                <a:latin typeface="宋体" panose="02010600030101010101" pitchFamily="2" charset="-122"/>
                <a:ea typeface="宋体" panose="02010600030101010101" pitchFamily="2" charset="-122"/>
                <a:cs typeface="阿里巴巴普惠体 3.0 55 Regular" panose="00020600040101010101" pitchFamily="18" charset="-122"/>
                <a:sym typeface="+mn-ea"/>
              </a:rPr>
              <a:t>对航拍图像目标的检测能力</a:t>
            </a:r>
            <a:endParaRPr lang="zh-CN" altLang="en-US" sz="2400" dirty="0">
              <a:solidFill>
                <a:schemeClr val="tx1"/>
              </a:solidFill>
              <a:latin typeface="阿里巴巴普惠体 3.0 55 Regular" panose="00020600040101010101" pitchFamily="18" charset="-122"/>
              <a:ea typeface="阿里巴巴普惠体 3.0 55 Regular" panose="00020600040101010101" pitchFamily="18" charset="-122"/>
              <a:cs typeface="阿里巴巴普惠体 3.0 55 Regular" panose="00020600040101010101" pitchFamily="18" charset="-122"/>
            </a:endParaRPr>
          </a:p>
        </p:txBody>
      </p:sp>
      <p:pic>
        <p:nvPicPr>
          <p:cNvPr id="7" name="图片 6" descr="GM-Gate"/>
          <p:cNvPicPr>
            <a:picLocks noChangeAspect="1"/>
          </p:cNvPicPr>
          <p:nvPr/>
        </p:nvPicPr>
        <p:blipFill>
          <a:blip r:embed="rId1"/>
          <a:stretch>
            <a:fillRect/>
          </a:stretch>
        </p:blipFill>
        <p:spPr>
          <a:xfrm>
            <a:off x="4675505" y="2781935"/>
            <a:ext cx="7212965" cy="3181350"/>
          </a:xfrm>
          <a:prstGeom prst="rect">
            <a:avLst/>
          </a:prstGeom>
        </p:spPr>
      </p:pic>
    </p:spTree>
  </p:cSld>
  <p:clrMapOvr>
    <a:masterClrMapping/>
  </p:clrMapOvr>
  <p:transition spd="slow"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500"/>
                                        <p:tgtEl>
                                          <p:spTgt spid="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wipe(down)">
                                      <p:cBhvr>
                                        <p:cTn id="3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8" grpId="0" bldLvl="0" animBg="1"/>
      <p:bldP spid="10" grpId="0" bldLvl="0" animBg="1"/>
      <p:bldP spid="4" grpId="0" bldLvl="0" animBg="1"/>
      <p:bldP spid="12" grpId="0" bldLvl="0" animBg="1"/>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5032375" y="880745"/>
            <a:ext cx="3710305" cy="334454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descr="画家"/>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480820" y="1743075"/>
            <a:ext cx="918000" cy="918000"/>
          </a:xfrm>
          <a:prstGeom prst="rect">
            <a:avLst/>
          </a:prstGeom>
        </p:spPr>
      </p:pic>
      <p:pic>
        <p:nvPicPr>
          <p:cNvPr id="12" name="图片 11" descr="厨师"/>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36895" y="1743075"/>
            <a:ext cx="918210" cy="918210"/>
          </a:xfrm>
          <a:prstGeom prst="rect">
            <a:avLst/>
          </a:prstGeom>
        </p:spPr>
      </p:pic>
      <p:sp>
        <p:nvSpPr>
          <p:cNvPr id="5" name="圆角矩形 4"/>
          <p:cNvSpPr/>
          <p:nvPr/>
        </p:nvSpPr>
        <p:spPr>
          <a:xfrm>
            <a:off x="3189605" y="723900"/>
            <a:ext cx="1657350" cy="37338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矩形 5"/>
          <p:cNvSpPr/>
          <p:nvPr/>
        </p:nvSpPr>
        <p:spPr>
          <a:xfrm>
            <a:off x="3489325" y="876300"/>
            <a:ext cx="1057910" cy="591185"/>
          </a:xfrm>
          <a:prstGeom prst="rect">
            <a:avLst/>
          </a:prstGeom>
          <a:solidFill>
            <a:schemeClr val="accent5">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图片</a:t>
            </a:r>
            <a:endParaRPr lang="zh-CN" altLang="en-US"/>
          </a:p>
        </p:txBody>
      </p:sp>
      <p:sp>
        <p:nvSpPr>
          <p:cNvPr id="10" name="矩形 9"/>
          <p:cNvSpPr/>
          <p:nvPr/>
        </p:nvSpPr>
        <p:spPr>
          <a:xfrm>
            <a:off x="3489325" y="1743075"/>
            <a:ext cx="1057910" cy="591185"/>
          </a:xfrm>
          <a:prstGeom prst="rect">
            <a:avLst/>
          </a:prstGeom>
          <a:solidFill>
            <a:schemeClr val="accent5">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图片</a:t>
            </a:r>
            <a:endParaRPr lang="zh-CN" altLang="en-US"/>
          </a:p>
        </p:txBody>
      </p:sp>
      <p:sp>
        <p:nvSpPr>
          <p:cNvPr id="11" name="矩形 10"/>
          <p:cNvSpPr/>
          <p:nvPr/>
        </p:nvSpPr>
        <p:spPr>
          <a:xfrm>
            <a:off x="3488690" y="2609850"/>
            <a:ext cx="1057910" cy="591185"/>
          </a:xfrm>
          <a:prstGeom prst="rect">
            <a:avLst/>
          </a:prstGeom>
          <a:solidFill>
            <a:schemeClr val="accent5">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图片</a:t>
            </a:r>
            <a:endParaRPr lang="zh-CN" altLang="en-US"/>
          </a:p>
        </p:txBody>
      </p:sp>
      <p:sp>
        <p:nvSpPr>
          <p:cNvPr id="14" name="矩形 13"/>
          <p:cNvSpPr/>
          <p:nvPr/>
        </p:nvSpPr>
        <p:spPr>
          <a:xfrm>
            <a:off x="3489325" y="3476625"/>
            <a:ext cx="1057910" cy="591185"/>
          </a:xfrm>
          <a:prstGeom prst="rect">
            <a:avLst/>
          </a:prstGeom>
          <a:solidFill>
            <a:schemeClr val="accent5">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图片</a:t>
            </a:r>
            <a:endParaRPr lang="zh-CN" altLang="en-US"/>
          </a:p>
        </p:txBody>
      </p:sp>
      <p:cxnSp>
        <p:nvCxnSpPr>
          <p:cNvPr id="15" name="直接箭头连接符 14"/>
          <p:cNvCxnSpPr>
            <a:stCxn id="3" idx="3"/>
          </p:cNvCxnSpPr>
          <p:nvPr/>
        </p:nvCxnSpPr>
        <p:spPr>
          <a:xfrm>
            <a:off x="2399030" y="2202180"/>
            <a:ext cx="1001395" cy="145542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16" name="文本框 15"/>
          <p:cNvSpPr txBox="1"/>
          <p:nvPr/>
        </p:nvSpPr>
        <p:spPr>
          <a:xfrm>
            <a:off x="1121410" y="2661285"/>
            <a:ext cx="1589405" cy="654050"/>
          </a:xfrm>
          <a:prstGeom prst="rect">
            <a:avLst/>
          </a:prstGeom>
          <a:noFill/>
        </p:spPr>
        <p:txBody>
          <a:bodyPr wrap="square" rtlCol="0">
            <a:noAutofit/>
          </a:bodyPr>
          <a:p>
            <a:r>
              <a:rPr lang="zh-CN" altLang="en-US" sz="1400"/>
              <a:t>放入图片，并通知检测</a:t>
            </a:r>
            <a:r>
              <a:rPr lang="zh-CN" altLang="en-US" sz="1400"/>
              <a:t>线程</a:t>
            </a:r>
            <a:endParaRPr lang="zh-CN" altLang="en-US" sz="1400"/>
          </a:p>
        </p:txBody>
      </p:sp>
      <p:sp>
        <p:nvSpPr>
          <p:cNvPr id="17" name="文本框 16"/>
          <p:cNvSpPr txBox="1"/>
          <p:nvPr/>
        </p:nvSpPr>
        <p:spPr>
          <a:xfrm>
            <a:off x="4951730" y="1137285"/>
            <a:ext cx="1008380" cy="330200"/>
          </a:xfrm>
          <a:prstGeom prst="rect">
            <a:avLst/>
          </a:prstGeom>
          <a:noFill/>
        </p:spPr>
        <p:txBody>
          <a:bodyPr wrap="square" rtlCol="0">
            <a:noAutofit/>
          </a:bodyPr>
          <a:p>
            <a:r>
              <a:rPr lang="zh-CN" altLang="en-US" sz="1400"/>
              <a:t>拿走图片</a:t>
            </a:r>
            <a:endParaRPr lang="zh-CN" altLang="en-US" sz="1400"/>
          </a:p>
        </p:txBody>
      </p:sp>
      <p:cxnSp>
        <p:nvCxnSpPr>
          <p:cNvPr id="18" name="直接箭头连接符 17"/>
          <p:cNvCxnSpPr>
            <a:endCxn id="12" idx="1"/>
          </p:cNvCxnSpPr>
          <p:nvPr/>
        </p:nvCxnSpPr>
        <p:spPr>
          <a:xfrm>
            <a:off x="4546600" y="1021080"/>
            <a:ext cx="1090295" cy="118110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20" name="椭圆形标注 19"/>
          <p:cNvSpPr/>
          <p:nvPr/>
        </p:nvSpPr>
        <p:spPr>
          <a:xfrm>
            <a:off x="1896110" y="1021080"/>
            <a:ext cx="1188720" cy="579120"/>
          </a:xfrm>
          <a:prstGeom prst="wedgeEllipseCallout">
            <a:avLst>
              <a:gd name="adj1" fmla="val -43910"/>
              <a:gd name="adj2" fmla="val 66447"/>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2" name="文本框 21"/>
          <p:cNvSpPr txBox="1"/>
          <p:nvPr/>
        </p:nvSpPr>
        <p:spPr>
          <a:xfrm>
            <a:off x="2125345" y="1137285"/>
            <a:ext cx="959485" cy="275590"/>
          </a:xfrm>
          <a:prstGeom prst="rect">
            <a:avLst/>
          </a:prstGeom>
          <a:noFill/>
        </p:spPr>
        <p:txBody>
          <a:bodyPr wrap="square" rtlCol="0">
            <a:spAutoFit/>
          </a:bodyPr>
          <a:p>
            <a:r>
              <a:rPr lang="zh-CN" altLang="en-US" sz="1200"/>
              <a:t>该干活啦</a:t>
            </a:r>
            <a:endParaRPr lang="zh-CN" altLang="en-US" sz="12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descr="画家"/>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480820" y="1743075"/>
            <a:ext cx="918000" cy="918000"/>
          </a:xfrm>
          <a:prstGeom prst="rect">
            <a:avLst/>
          </a:prstGeom>
        </p:spPr>
      </p:pic>
      <p:pic>
        <p:nvPicPr>
          <p:cNvPr id="12" name="图片 11" descr="厨师"/>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36895" y="1743075"/>
            <a:ext cx="918210" cy="918210"/>
          </a:xfrm>
          <a:prstGeom prst="rect">
            <a:avLst/>
          </a:prstGeom>
        </p:spPr>
      </p:pic>
      <p:sp>
        <p:nvSpPr>
          <p:cNvPr id="5" name="圆角矩形 4"/>
          <p:cNvSpPr/>
          <p:nvPr/>
        </p:nvSpPr>
        <p:spPr>
          <a:xfrm>
            <a:off x="3189605" y="723900"/>
            <a:ext cx="1657350" cy="37338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矩形 5"/>
          <p:cNvSpPr/>
          <p:nvPr/>
        </p:nvSpPr>
        <p:spPr>
          <a:xfrm>
            <a:off x="3489325" y="876300"/>
            <a:ext cx="1057910" cy="591185"/>
          </a:xfrm>
          <a:prstGeom prst="rect">
            <a:avLst/>
          </a:prstGeom>
          <a:solidFill>
            <a:schemeClr val="accent5">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图片</a:t>
            </a:r>
            <a:endParaRPr lang="zh-CN" altLang="en-US"/>
          </a:p>
        </p:txBody>
      </p:sp>
      <p:sp>
        <p:nvSpPr>
          <p:cNvPr id="10" name="矩形 9"/>
          <p:cNvSpPr/>
          <p:nvPr/>
        </p:nvSpPr>
        <p:spPr>
          <a:xfrm>
            <a:off x="3489325" y="1743075"/>
            <a:ext cx="1057910" cy="591185"/>
          </a:xfrm>
          <a:prstGeom prst="rect">
            <a:avLst/>
          </a:prstGeom>
          <a:solidFill>
            <a:schemeClr val="accent5">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图片</a:t>
            </a:r>
            <a:endParaRPr lang="zh-CN" altLang="en-US"/>
          </a:p>
        </p:txBody>
      </p:sp>
      <p:sp>
        <p:nvSpPr>
          <p:cNvPr id="11" name="矩形 10"/>
          <p:cNvSpPr/>
          <p:nvPr/>
        </p:nvSpPr>
        <p:spPr>
          <a:xfrm>
            <a:off x="3488690" y="2609850"/>
            <a:ext cx="1057910" cy="591185"/>
          </a:xfrm>
          <a:prstGeom prst="rect">
            <a:avLst/>
          </a:prstGeom>
          <a:solidFill>
            <a:schemeClr val="accent5">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图片</a:t>
            </a:r>
            <a:endParaRPr lang="zh-CN" altLang="en-US"/>
          </a:p>
        </p:txBody>
      </p:sp>
      <p:sp>
        <p:nvSpPr>
          <p:cNvPr id="14" name="矩形 13"/>
          <p:cNvSpPr/>
          <p:nvPr/>
        </p:nvSpPr>
        <p:spPr>
          <a:xfrm>
            <a:off x="3489325" y="3476625"/>
            <a:ext cx="1057910" cy="591185"/>
          </a:xfrm>
          <a:prstGeom prst="rect">
            <a:avLst/>
          </a:prstGeom>
          <a:solidFill>
            <a:schemeClr val="accent5">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图片</a:t>
            </a:r>
            <a:endParaRPr lang="zh-CN" altLang="en-US"/>
          </a:p>
        </p:txBody>
      </p:sp>
      <p:cxnSp>
        <p:nvCxnSpPr>
          <p:cNvPr id="15" name="直接箭头连接符 14"/>
          <p:cNvCxnSpPr>
            <a:stCxn id="3" idx="3"/>
          </p:cNvCxnSpPr>
          <p:nvPr/>
        </p:nvCxnSpPr>
        <p:spPr>
          <a:xfrm>
            <a:off x="2399030" y="2202180"/>
            <a:ext cx="1001395" cy="145542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16" name="文本框 15"/>
          <p:cNvSpPr txBox="1"/>
          <p:nvPr/>
        </p:nvSpPr>
        <p:spPr>
          <a:xfrm>
            <a:off x="1121410" y="2661285"/>
            <a:ext cx="1589405" cy="654050"/>
          </a:xfrm>
          <a:prstGeom prst="rect">
            <a:avLst/>
          </a:prstGeom>
          <a:noFill/>
        </p:spPr>
        <p:txBody>
          <a:bodyPr wrap="square" rtlCol="0">
            <a:noAutofit/>
          </a:bodyPr>
          <a:p>
            <a:r>
              <a:rPr lang="zh-CN" altLang="en-US" sz="1400"/>
              <a:t>放入图片，并通知检测</a:t>
            </a:r>
            <a:r>
              <a:rPr lang="zh-CN" altLang="en-US" sz="1400"/>
              <a:t>线程</a:t>
            </a:r>
            <a:endParaRPr lang="zh-CN" altLang="en-US" sz="1400"/>
          </a:p>
        </p:txBody>
      </p:sp>
      <p:sp>
        <p:nvSpPr>
          <p:cNvPr id="17" name="文本框 16"/>
          <p:cNvSpPr txBox="1"/>
          <p:nvPr/>
        </p:nvSpPr>
        <p:spPr>
          <a:xfrm>
            <a:off x="4951730" y="1137285"/>
            <a:ext cx="1008380" cy="330200"/>
          </a:xfrm>
          <a:prstGeom prst="rect">
            <a:avLst/>
          </a:prstGeom>
          <a:noFill/>
        </p:spPr>
        <p:txBody>
          <a:bodyPr wrap="square" rtlCol="0">
            <a:noAutofit/>
          </a:bodyPr>
          <a:p>
            <a:r>
              <a:rPr lang="zh-CN" altLang="en-US" sz="1400"/>
              <a:t>拿走图片</a:t>
            </a:r>
            <a:endParaRPr lang="zh-CN" altLang="en-US" sz="1400"/>
          </a:p>
        </p:txBody>
      </p:sp>
      <p:cxnSp>
        <p:nvCxnSpPr>
          <p:cNvPr id="18" name="直接箭头连接符 17"/>
          <p:cNvCxnSpPr>
            <a:endCxn id="12" idx="1"/>
          </p:cNvCxnSpPr>
          <p:nvPr/>
        </p:nvCxnSpPr>
        <p:spPr>
          <a:xfrm>
            <a:off x="4546600" y="1021080"/>
            <a:ext cx="1090295" cy="118110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20" name="椭圆形标注 19"/>
          <p:cNvSpPr/>
          <p:nvPr/>
        </p:nvSpPr>
        <p:spPr>
          <a:xfrm>
            <a:off x="1896110" y="1021080"/>
            <a:ext cx="1188720" cy="579120"/>
          </a:xfrm>
          <a:prstGeom prst="wedgeEllipseCallout">
            <a:avLst>
              <a:gd name="adj1" fmla="val -43910"/>
              <a:gd name="adj2" fmla="val 66447"/>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2" name="文本框 21"/>
          <p:cNvSpPr txBox="1"/>
          <p:nvPr/>
        </p:nvSpPr>
        <p:spPr>
          <a:xfrm>
            <a:off x="2125345" y="1137285"/>
            <a:ext cx="959485" cy="275590"/>
          </a:xfrm>
          <a:prstGeom prst="rect">
            <a:avLst/>
          </a:prstGeom>
          <a:noFill/>
        </p:spPr>
        <p:txBody>
          <a:bodyPr wrap="square" rtlCol="0">
            <a:spAutoFit/>
          </a:bodyPr>
          <a:p>
            <a:r>
              <a:rPr lang="zh-CN" altLang="en-US" sz="1200"/>
              <a:t>该干活啦</a:t>
            </a:r>
            <a:endParaRPr lang="zh-CN" altLang="en-US" sz="12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descr="画家"/>
          <p:cNvPicPr>
            <a:picLocks noChangeAspect="1"/>
          </p:cNvPicPr>
          <p:nvPr/>
        </p:nvPicPr>
        <p:blipFill>
          <a:blip/>
          <a:stretch>
            <a:fillRect/>
          </a:stretch>
        </p:blipFill>
        <p:spPr>
          <a:xfrm>
            <a:off x="1480820" y="1743075"/>
            <a:ext cx="918000" cy="918000"/>
          </a:xfrm>
          <a:prstGeom prst="rect">
            <a:avLst/>
          </a:prstGeom>
        </p:spPr>
      </p:pic>
      <p:pic>
        <p:nvPicPr>
          <p:cNvPr id="12" name="图片 11" descr="厨师"/>
          <p:cNvPicPr>
            <a:picLocks noChangeAspect="1"/>
          </p:cNvPicPr>
          <p:nvPr/>
        </p:nvPicPr>
        <p:blipFill>
          <a:blip/>
          <a:stretch>
            <a:fillRect/>
          </a:stretch>
        </p:blipFill>
        <p:spPr>
          <a:xfrm>
            <a:off x="5636895" y="1743075"/>
            <a:ext cx="918210" cy="918210"/>
          </a:xfrm>
          <a:prstGeom prst="rect">
            <a:avLst/>
          </a:prstGeom>
        </p:spPr>
      </p:pic>
      <p:sp>
        <p:nvSpPr>
          <p:cNvPr id="5" name="圆角矩形 4"/>
          <p:cNvSpPr/>
          <p:nvPr/>
        </p:nvSpPr>
        <p:spPr>
          <a:xfrm>
            <a:off x="3189605" y="723900"/>
            <a:ext cx="1657350" cy="37338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矩形 5"/>
          <p:cNvSpPr/>
          <p:nvPr/>
        </p:nvSpPr>
        <p:spPr>
          <a:xfrm>
            <a:off x="3489325" y="876300"/>
            <a:ext cx="1057910" cy="591185"/>
          </a:xfrm>
          <a:prstGeom prst="rect">
            <a:avLst/>
          </a:prstGeom>
          <a:solidFill>
            <a:schemeClr val="accent5">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图片</a:t>
            </a:r>
            <a:endParaRPr lang="zh-CN" altLang="en-US"/>
          </a:p>
        </p:txBody>
      </p:sp>
      <p:sp>
        <p:nvSpPr>
          <p:cNvPr id="10" name="矩形 9"/>
          <p:cNvSpPr/>
          <p:nvPr/>
        </p:nvSpPr>
        <p:spPr>
          <a:xfrm>
            <a:off x="3489325" y="1743075"/>
            <a:ext cx="1057910" cy="591185"/>
          </a:xfrm>
          <a:prstGeom prst="rect">
            <a:avLst/>
          </a:prstGeom>
          <a:solidFill>
            <a:schemeClr val="accent5">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图片</a:t>
            </a:r>
            <a:endParaRPr lang="zh-CN" altLang="en-US"/>
          </a:p>
        </p:txBody>
      </p:sp>
      <p:sp>
        <p:nvSpPr>
          <p:cNvPr id="11" name="矩形 10"/>
          <p:cNvSpPr/>
          <p:nvPr/>
        </p:nvSpPr>
        <p:spPr>
          <a:xfrm>
            <a:off x="3488690" y="2609850"/>
            <a:ext cx="1057910" cy="591185"/>
          </a:xfrm>
          <a:prstGeom prst="rect">
            <a:avLst/>
          </a:prstGeom>
          <a:solidFill>
            <a:schemeClr val="accent5">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图片</a:t>
            </a:r>
            <a:endParaRPr lang="zh-CN" altLang="en-US"/>
          </a:p>
        </p:txBody>
      </p:sp>
      <p:sp>
        <p:nvSpPr>
          <p:cNvPr id="14" name="矩形 13"/>
          <p:cNvSpPr/>
          <p:nvPr/>
        </p:nvSpPr>
        <p:spPr>
          <a:xfrm>
            <a:off x="3489325" y="3476625"/>
            <a:ext cx="1057910" cy="591185"/>
          </a:xfrm>
          <a:prstGeom prst="rect">
            <a:avLst/>
          </a:prstGeom>
          <a:solidFill>
            <a:schemeClr val="accent5">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图片</a:t>
            </a:r>
            <a:endParaRPr lang="zh-CN" altLang="en-US"/>
          </a:p>
        </p:txBody>
      </p:sp>
      <p:cxnSp>
        <p:nvCxnSpPr>
          <p:cNvPr id="15" name="直接箭头连接符 14"/>
          <p:cNvCxnSpPr>
            <a:stCxn id="3" idx="3"/>
          </p:cNvCxnSpPr>
          <p:nvPr/>
        </p:nvCxnSpPr>
        <p:spPr>
          <a:xfrm>
            <a:off x="2399030" y="2202180"/>
            <a:ext cx="1001395" cy="145542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16" name="文本框 15"/>
          <p:cNvSpPr txBox="1"/>
          <p:nvPr/>
        </p:nvSpPr>
        <p:spPr>
          <a:xfrm>
            <a:off x="1121410" y="2661285"/>
            <a:ext cx="1589405" cy="654050"/>
          </a:xfrm>
          <a:prstGeom prst="rect">
            <a:avLst/>
          </a:prstGeom>
          <a:noFill/>
        </p:spPr>
        <p:txBody>
          <a:bodyPr wrap="square" rtlCol="0">
            <a:noAutofit/>
          </a:bodyPr>
          <a:p>
            <a:r>
              <a:rPr lang="zh-CN" altLang="en-US" sz="1400"/>
              <a:t>放入图片，并通知检测</a:t>
            </a:r>
            <a:r>
              <a:rPr lang="zh-CN" altLang="en-US" sz="1400"/>
              <a:t>线程</a:t>
            </a:r>
            <a:endParaRPr lang="zh-CN" altLang="en-US" sz="1400"/>
          </a:p>
        </p:txBody>
      </p:sp>
      <p:sp>
        <p:nvSpPr>
          <p:cNvPr id="17" name="文本框 16"/>
          <p:cNvSpPr txBox="1"/>
          <p:nvPr/>
        </p:nvSpPr>
        <p:spPr>
          <a:xfrm>
            <a:off x="4951730" y="1137285"/>
            <a:ext cx="1008380" cy="330200"/>
          </a:xfrm>
          <a:prstGeom prst="rect">
            <a:avLst/>
          </a:prstGeom>
          <a:noFill/>
        </p:spPr>
        <p:txBody>
          <a:bodyPr wrap="square" rtlCol="0">
            <a:noAutofit/>
          </a:bodyPr>
          <a:p>
            <a:r>
              <a:rPr lang="zh-CN" altLang="en-US" sz="1400"/>
              <a:t>拿走图片</a:t>
            </a:r>
            <a:endParaRPr lang="zh-CN" altLang="en-US" sz="1400"/>
          </a:p>
        </p:txBody>
      </p:sp>
      <p:cxnSp>
        <p:nvCxnSpPr>
          <p:cNvPr id="18" name="直接箭头连接符 17"/>
          <p:cNvCxnSpPr>
            <a:endCxn id="12" idx="1"/>
          </p:cNvCxnSpPr>
          <p:nvPr/>
        </p:nvCxnSpPr>
        <p:spPr>
          <a:xfrm>
            <a:off x="4546600" y="1021080"/>
            <a:ext cx="1090295" cy="118110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20" name="椭圆形标注 19"/>
          <p:cNvSpPr/>
          <p:nvPr/>
        </p:nvSpPr>
        <p:spPr>
          <a:xfrm>
            <a:off x="1896110" y="1021080"/>
            <a:ext cx="1188720" cy="579120"/>
          </a:xfrm>
          <a:prstGeom prst="wedgeEllipseCallout">
            <a:avLst>
              <a:gd name="adj1" fmla="val -43910"/>
              <a:gd name="adj2" fmla="val 66447"/>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2" name="文本框 21"/>
          <p:cNvSpPr txBox="1"/>
          <p:nvPr/>
        </p:nvSpPr>
        <p:spPr>
          <a:xfrm>
            <a:off x="2125345" y="1137285"/>
            <a:ext cx="959485" cy="275590"/>
          </a:xfrm>
          <a:prstGeom prst="rect">
            <a:avLst/>
          </a:prstGeom>
          <a:noFill/>
        </p:spPr>
        <p:txBody>
          <a:bodyPr wrap="square" rtlCol="0">
            <a:spAutoFit/>
          </a:bodyPr>
          <a:p>
            <a:r>
              <a:rPr lang="zh-CN" altLang="en-US" sz="1200"/>
              <a:t>该干活啦</a:t>
            </a:r>
            <a:endParaRPr lang="zh-CN" altLang="en-US" sz="12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 name="图片 11" descr="厨师"/>
          <p:cNvPicPr>
            <a:picLocks noChangeAspect="1"/>
          </p:cNvPicPr>
          <p:nvPr/>
        </p:nvPicPr>
        <p:blipFill>
          <a:blip/>
          <a:stretch>
            <a:fillRect/>
          </a:stretch>
        </p:blipFill>
        <p:spPr>
          <a:xfrm>
            <a:off x="5636895" y="1743075"/>
            <a:ext cx="918210" cy="918210"/>
          </a:xfrm>
          <a:prstGeom prst="rect">
            <a:avLst/>
          </a:prstGeom>
        </p:spPr>
      </p:pic>
      <p:sp>
        <p:nvSpPr>
          <p:cNvPr id="2" name="矩形 1"/>
          <p:cNvSpPr/>
          <p:nvPr/>
        </p:nvSpPr>
        <p:spPr>
          <a:xfrm>
            <a:off x="1882775" y="2518410"/>
            <a:ext cx="1057910" cy="591185"/>
          </a:xfrm>
          <a:prstGeom prst="rect">
            <a:avLst/>
          </a:prstGeom>
          <a:solidFill>
            <a:schemeClr val="accent5">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frame</a:t>
            </a:r>
            <a:endParaRPr lang="en-US" altLang="zh-CN"/>
          </a:p>
        </p:txBody>
      </p:sp>
      <p:sp>
        <p:nvSpPr>
          <p:cNvPr id="4" name="矩形 3"/>
          <p:cNvSpPr/>
          <p:nvPr/>
        </p:nvSpPr>
        <p:spPr>
          <a:xfrm>
            <a:off x="3790950" y="2518410"/>
            <a:ext cx="1057910" cy="591185"/>
          </a:xfrm>
          <a:prstGeom prst="rect">
            <a:avLst/>
          </a:prstGeom>
          <a:solidFill>
            <a:schemeClr val="accent5">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400">
                <a:sym typeface="+mn-ea"/>
              </a:rPr>
              <a:t>detectionInputFrame_</a:t>
            </a:r>
            <a:endParaRPr lang="zh-CN" altLang="en-US" sz="1400"/>
          </a:p>
        </p:txBody>
      </p:sp>
      <p:sp>
        <p:nvSpPr>
          <p:cNvPr id="7" name="矩形 6"/>
          <p:cNvSpPr/>
          <p:nvPr/>
        </p:nvSpPr>
        <p:spPr>
          <a:xfrm>
            <a:off x="5699125" y="2518410"/>
            <a:ext cx="982345" cy="591185"/>
          </a:xfrm>
          <a:prstGeom prst="rect">
            <a:avLst/>
          </a:prstGeom>
          <a:solidFill>
            <a:schemeClr val="accent5">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400">
                <a:sym typeface="+mn-ea"/>
              </a:rPr>
              <a:t>processFrame</a:t>
            </a:r>
            <a:endParaRPr lang="zh-CN" altLang="en-US"/>
          </a:p>
        </p:txBody>
      </p:sp>
      <p:sp>
        <p:nvSpPr>
          <p:cNvPr id="8" name="文本框 7"/>
          <p:cNvSpPr txBox="1"/>
          <p:nvPr/>
        </p:nvSpPr>
        <p:spPr>
          <a:xfrm>
            <a:off x="1882775" y="3244850"/>
            <a:ext cx="1063625" cy="368300"/>
          </a:xfrm>
          <a:prstGeom prst="rect">
            <a:avLst/>
          </a:prstGeom>
          <a:noFill/>
        </p:spPr>
        <p:txBody>
          <a:bodyPr wrap="square" rtlCol="0">
            <a:spAutoFit/>
          </a:bodyPr>
          <a:p>
            <a:r>
              <a:rPr lang="zh-CN" altLang="en-US"/>
              <a:t>临时</a:t>
            </a:r>
            <a:r>
              <a:rPr lang="zh-CN" altLang="en-US"/>
              <a:t>帧</a:t>
            </a:r>
            <a:endParaRPr lang="zh-CN" altLang="en-US"/>
          </a:p>
        </p:txBody>
      </p:sp>
      <p:sp>
        <p:nvSpPr>
          <p:cNvPr id="9" name="文本框 8"/>
          <p:cNvSpPr txBox="1"/>
          <p:nvPr/>
        </p:nvSpPr>
        <p:spPr>
          <a:xfrm>
            <a:off x="3655060" y="3244850"/>
            <a:ext cx="1330325" cy="368300"/>
          </a:xfrm>
          <a:prstGeom prst="rect">
            <a:avLst/>
          </a:prstGeom>
          <a:noFill/>
        </p:spPr>
        <p:txBody>
          <a:bodyPr wrap="square" rtlCol="0">
            <a:spAutoFit/>
          </a:bodyPr>
          <a:p>
            <a:r>
              <a:rPr lang="zh-CN" altLang="en-US"/>
              <a:t>共享</a:t>
            </a:r>
            <a:r>
              <a:rPr lang="zh-CN" altLang="en-US"/>
              <a:t>缓冲区</a:t>
            </a:r>
            <a:endParaRPr lang="zh-CN" altLang="en-US"/>
          </a:p>
        </p:txBody>
      </p:sp>
      <p:sp>
        <p:nvSpPr>
          <p:cNvPr id="13" name="文本框 12"/>
          <p:cNvSpPr txBox="1"/>
          <p:nvPr/>
        </p:nvSpPr>
        <p:spPr>
          <a:xfrm>
            <a:off x="5344795" y="3244850"/>
            <a:ext cx="1882140" cy="275590"/>
          </a:xfrm>
          <a:prstGeom prst="rect">
            <a:avLst/>
          </a:prstGeom>
          <a:noFill/>
        </p:spPr>
        <p:txBody>
          <a:bodyPr wrap="square" rtlCol="0">
            <a:spAutoFit/>
          </a:bodyPr>
          <a:p>
            <a:r>
              <a:rPr lang="zh-CN" altLang="en-US" sz="1200"/>
              <a:t>检测线程私有工作副本</a:t>
            </a:r>
            <a:endParaRPr lang="zh-CN" altLang="en-US" sz="1200"/>
          </a:p>
        </p:txBody>
      </p:sp>
      <p:cxnSp>
        <p:nvCxnSpPr>
          <p:cNvPr id="19" name="直接箭头连接符 18"/>
          <p:cNvCxnSpPr>
            <a:endCxn id="4" idx="1"/>
          </p:cNvCxnSpPr>
          <p:nvPr/>
        </p:nvCxnSpPr>
        <p:spPr>
          <a:xfrm flipV="1">
            <a:off x="2946400" y="2814320"/>
            <a:ext cx="844550" cy="4445"/>
          </a:xfrm>
          <a:prstGeom prst="straightConnector1">
            <a:avLst/>
          </a:prstGeom>
          <a:ln w="25400">
            <a:tailEnd type="triangle"/>
          </a:ln>
        </p:spPr>
        <p:style>
          <a:lnRef idx="2">
            <a:schemeClr val="accent1"/>
          </a:lnRef>
          <a:fillRef idx="0">
            <a:srgbClr val="FFFFFF"/>
          </a:fillRef>
          <a:effectRef idx="0">
            <a:srgbClr val="FFFFFF"/>
          </a:effectRef>
          <a:fontRef idx="minor">
            <a:schemeClr val="tx1"/>
          </a:fontRef>
        </p:style>
      </p:cxnSp>
      <p:cxnSp>
        <p:nvCxnSpPr>
          <p:cNvPr id="21" name="直接箭头连接符 20"/>
          <p:cNvCxnSpPr/>
          <p:nvPr/>
        </p:nvCxnSpPr>
        <p:spPr>
          <a:xfrm flipV="1">
            <a:off x="4848860" y="2809875"/>
            <a:ext cx="844550" cy="4445"/>
          </a:xfrm>
          <a:prstGeom prst="straightConnector1">
            <a:avLst/>
          </a:prstGeom>
          <a:ln w="25400">
            <a:tailEnd type="triangle"/>
          </a:ln>
        </p:spPr>
        <p:style>
          <a:lnRef idx="2">
            <a:schemeClr val="accent1"/>
          </a:lnRef>
          <a:fillRef idx="0">
            <a:srgbClr val="FFFFFF"/>
          </a:fillRef>
          <a:effectRef idx="0">
            <a:srgbClr val="FFFFFF"/>
          </a:effectRef>
          <a:fontRef idx="minor">
            <a:schemeClr val="tx1"/>
          </a:fontRef>
        </p:style>
      </p:cxnSp>
      <p:pic>
        <p:nvPicPr>
          <p:cNvPr id="23" name="图片 22"/>
          <p:cNvPicPr>
            <a:picLocks noChangeAspect="1"/>
          </p:cNvPicPr>
          <p:nvPr/>
        </p:nvPicPr>
        <p:blipFill>
          <a:blip r:embed="rId1"/>
          <a:stretch>
            <a:fillRect/>
          </a:stretch>
        </p:blipFill>
        <p:spPr>
          <a:xfrm>
            <a:off x="2971165" y="213995"/>
            <a:ext cx="6438900" cy="1724025"/>
          </a:xfrm>
          <a:prstGeom prst="rect">
            <a:avLst/>
          </a:prstGeom>
        </p:spPr>
      </p:pic>
    </p:spTree>
  </p:cSld>
  <p:clrMapOvr>
    <a:masterClrMapping/>
  </p:clrMapOvr>
</p:sld>
</file>

<file path=ppt/tags/tag1.xml><?xml version="1.0" encoding="utf-8"?>
<p:tagLst xmlns:p="http://schemas.openxmlformats.org/presentationml/2006/main">
  <p:tag name="KSO_WM_DIAGRAM_VIRTUALLY_FRAME" val="{&quot;height&quot;:71,&quot;left&quot;:210.85,&quot;top&quot;:258,&quot;width&quot;:442.35}"/>
</p:tagLst>
</file>

<file path=ppt/tags/tag2.xml><?xml version="1.0" encoding="utf-8"?>
<p:tagLst xmlns:p="http://schemas.openxmlformats.org/presentationml/2006/main">
  <p:tag name="KSO_WM_DIAGRAM_VIRTUALLY_FRAME" val="{&quot;height&quot;:71,&quot;left&quot;:210.85,&quot;top&quot;:258,&quot;width&quot;:442.35}"/>
</p:tagLst>
</file>

<file path=ppt/tags/tag3.xml><?xml version="1.0" encoding="utf-8"?>
<p:tagLst xmlns:p="http://schemas.openxmlformats.org/presentationml/2006/main">
  <p:tag name="KSO_WM_DIAGRAM_VIRTUALLY_FRAME" val="{&quot;height&quot;:71,&quot;left&quot;:210.85,&quot;top&quot;:258,&quot;width&quot;:442.35}"/>
</p:tagLst>
</file>

<file path=ppt/tags/tag4.xml><?xml version="1.0" encoding="utf-8"?>
<p:tagLst xmlns:p="http://schemas.openxmlformats.org/presentationml/2006/main">
  <p:tag name="KSO_WM_DIAGRAM_VIRTUALLY_FRAME" val="{&quot;height&quot;:71,&quot;left&quot;:210.85,&quot;top&quot;:258,&quot;width&quot;:442.35}"/>
</p:tagLst>
</file>

<file path=ppt/tags/tag5.xml><?xml version="1.0" encoding="utf-8"?>
<p:tagLst xmlns:p="http://schemas.openxmlformats.org/presentationml/2006/main">
  <p:tag name="KSO_WM_DIAGRAM_VIRTUALLY_FRAME" val="{&quot;height&quot;:71,&quot;left&quot;:210.85,&quot;top&quot;:258,&quot;width&quot;:442.35}"/>
</p:tagLst>
</file>

<file path=ppt/tags/tag6.xml><?xml version="1.0" encoding="utf-8"?>
<p:tagLst xmlns:p="http://schemas.openxmlformats.org/presentationml/2006/main">
  <p:tag name="KSO_WM_DIAGRAM_VIRTUALLY_FRAME" val="{&quot;height&quot;:71,&quot;left&quot;:210.85,&quot;top&quot;:258,&quot;width&quot;:442.35}"/>
</p:tagLst>
</file>

<file path=ppt/tags/tag7.xml><?xml version="1.0" encoding="utf-8"?>
<p:tagLst xmlns:p="http://schemas.openxmlformats.org/presentationml/2006/main">
  <p:tag name="KSO_WM_DIAGRAM_VIRTUALLY_FRAME" val="{&quot;height&quot;:71,&quot;left&quot;:210.85,&quot;top&quot;:258,&quot;width&quot;:442.35}"/>
</p:tagLst>
</file>

<file path=ppt/tags/tag8.xml><?xml version="1.0" encoding="utf-8"?>
<p:tagLst xmlns:p="http://schemas.openxmlformats.org/presentationml/2006/main">
  <p:tag name="KSO_WM_DIAGRAM_VIRTUALLY_FRAME" val="{&quot;height&quot;:71,&quot;left&quot;:210.85,&quot;top&quot;:258,&quot;width&quot;:442.35}"/>
</p:tagLst>
</file>

<file path=ppt/tags/tag9.xml><?xml version="1.0" encoding="utf-8"?>
<p:tagLst xmlns:p="http://schemas.openxmlformats.org/presentationml/2006/main">
  <p:tag name="KSO_WM_DIAGRAM_VIRTUALLY_FRAME" val="{&quot;height&quot;:71,&quot;left&quot;:210.85,&quot;top&quot;:258,&quot;width&quot;:442.35}"/>
</p:tagLst>
</file>

<file path=ppt/tags/tag10.xml><?xml version="1.0" encoding="utf-8"?>
<p:tagLst xmlns:p="http://schemas.openxmlformats.org/presentationml/2006/main">
  <p:tag name="KSO_WM_DIAGRAM_VIRTUALLY_FRAME" val="{&quot;height&quot;:71,&quot;left&quot;:210.85,&quot;top&quot;:258,&quot;width&quot;:442.35}"/>
</p:tagLst>
</file>

<file path=ppt/tags/tag11.xml><?xml version="1.0" encoding="utf-8"?>
<p:tagLst xmlns:p="http://schemas.openxmlformats.org/presentationml/2006/main">
  <p:tag name="KSO_WM_DIAGRAM_VIRTUALLY_FRAME" val="{&quot;height&quot;:71,&quot;left&quot;:210.85,&quot;top&quot;:258,&quot;width&quot;:442.35}"/>
</p:tagLst>
</file>

<file path=ppt/tags/tag12.xml><?xml version="1.0" encoding="utf-8"?>
<p:tagLst xmlns:p="http://schemas.openxmlformats.org/presentationml/2006/main">
  <p:tag name="KSO_WM_DIAGRAM_VIRTUALLY_FRAME" val="{&quot;height&quot;:71,&quot;left&quot;:210.85,&quot;top&quot;:258,&quot;width&quot;:442.35}"/>
</p:tagLst>
</file>

<file path=ppt/tags/tag13.xml><?xml version="1.0" encoding="utf-8"?>
<p:tagLst xmlns:p="http://schemas.openxmlformats.org/presentationml/2006/main">
  <p:tag name="KSO_WM_DIAGRAM_VIRTUALLY_FRAME" val="{&quot;height&quot;:71,&quot;left&quot;:210.85,&quot;top&quot;:258,&quot;width&quot;:442.35}"/>
</p:tagLst>
</file>

<file path=ppt/tags/tag14.xml><?xml version="1.0" encoding="utf-8"?>
<p:tagLst xmlns:p="http://schemas.openxmlformats.org/presentationml/2006/main">
  <p:tag name="KSO_WM_DIAGRAM_VIRTUALLY_FRAME" val="{&quot;height&quot;:71,&quot;left&quot;:210.85,&quot;top&quot;:258,&quot;width&quot;:442.35}"/>
</p:tagLst>
</file>

<file path=ppt/tags/tag15.xml><?xml version="1.0" encoding="utf-8"?>
<p:tagLst xmlns:p="http://schemas.openxmlformats.org/presentationml/2006/main">
  <p:tag name="KSO_WM_DIAGRAM_VIRTUALLY_FRAME" val="{&quot;height&quot;:71,&quot;left&quot;:210.85,&quot;top&quot;:258,&quot;width&quot;:442.35}"/>
</p:tagLst>
</file>

<file path=ppt/tags/tag16.xml><?xml version="1.0" encoding="utf-8"?>
<p:tagLst xmlns:p="http://schemas.openxmlformats.org/presentationml/2006/main">
  <p:tag name="KSO_WM_DIAGRAM_VIRTUALLY_FRAME" val="{&quot;height&quot;:71,&quot;left&quot;:210.85,&quot;top&quot;:258,&quot;width&quot;:442.35}"/>
</p:tagLst>
</file>

<file path=ppt/tags/tag17.xml><?xml version="1.0" encoding="utf-8"?>
<p:tagLst xmlns:p="http://schemas.openxmlformats.org/presentationml/2006/main">
  <p:tag name="KSO_WM_DIAGRAM_VIRTUALLY_FRAME" val="{&quot;height&quot;:71,&quot;left&quot;:210.85,&quot;top&quot;:258,&quot;width&quot;:442.35}"/>
</p:tagLst>
</file>

<file path=ppt/tags/tag18.xml><?xml version="1.0" encoding="utf-8"?>
<p:tagLst xmlns:p="http://schemas.openxmlformats.org/presentationml/2006/main">
  <p:tag name="KSO_WM_DIAGRAM_VIRTUALLY_FRAME" val="{&quot;height&quot;:71,&quot;left&quot;:210.85,&quot;top&quot;:258,&quot;width&quot;:442.35}"/>
</p:tagLst>
</file>

<file path=ppt/tags/tag19.xml><?xml version="1.0" encoding="utf-8"?>
<p:tagLst xmlns:p="http://schemas.openxmlformats.org/presentationml/2006/main">
  <p:tag name="KSO_WM_DIAGRAM_VIRTUALLY_FRAME" val="{&quot;height&quot;:71,&quot;left&quot;:210.85,&quot;top&quot;:258,&quot;width&quot;:442.35}"/>
</p:tagLst>
</file>

<file path=ppt/tags/tag20.xml><?xml version="1.0" encoding="utf-8"?>
<p:tagLst xmlns:p="http://schemas.openxmlformats.org/presentationml/2006/main">
  <p:tag name="KSO_WM_DIAGRAM_VIRTUALLY_FRAME" val="{&quot;height&quot;:71,&quot;left&quot;:210.85,&quot;top&quot;:258,&quot;width&quot;:442.35}"/>
</p:tagLst>
</file>

<file path=ppt/tags/tag21.xml><?xml version="1.0" encoding="utf-8"?>
<p:tagLst xmlns:p="http://schemas.openxmlformats.org/presentationml/2006/main">
  <p:tag name="KSO_WM_DIAGRAM_VIRTUALLY_FRAME" val="{&quot;height&quot;:71,&quot;left&quot;:210.85,&quot;top&quot;:258,&quot;width&quot;:442.35}"/>
</p:tagLst>
</file>

<file path=ppt/tags/tag22.xml><?xml version="1.0" encoding="utf-8"?>
<p:tagLst xmlns:p="http://schemas.openxmlformats.org/presentationml/2006/main">
  <p:tag name="KSO_WM_DIAGRAM_VIRTUALLY_FRAME" val="{&quot;height&quot;:71,&quot;left&quot;:210.85,&quot;top&quot;:258,&quot;width&quot;:442.35}"/>
</p:tagLst>
</file>

<file path=ppt/tags/tag23.xml><?xml version="1.0" encoding="utf-8"?>
<p:tagLst xmlns:p="http://schemas.openxmlformats.org/presentationml/2006/main">
  <p:tag name="KSO_WM_DIAGRAM_VIRTUALLY_FRAME" val="{&quot;height&quot;:71,&quot;left&quot;:210.85,&quot;top&quot;:258,&quot;width&quot;:442.35}"/>
</p:tagLst>
</file>

<file path=ppt/tags/tag24.xml><?xml version="1.0" encoding="utf-8"?>
<p:tagLst xmlns:p="http://schemas.openxmlformats.org/presentationml/2006/main">
  <p:tag name="KSO_WM_DIAGRAM_VIRTUALLY_FRAME" val="{&quot;height&quot;:71,&quot;left&quot;:210.85,&quot;top&quot;:258,&quot;width&quot;:442.35}"/>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899</Words>
  <Application>WPS 演示</Application>
  <PresentationFormat>宽屏</PresentationFormat>
  <Paragraphs>156</Paragraphs>
  <Slides>13</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13</vt:i4>
      </vt:variant>
    </vt:vector>
  </HeadingPairs>
  <TitlesOfParts>
    <vt:vector size="22" baseType="lpstr">
      <vt:lpstr>Arial</vt:lpstr>
      <vt:lpstr>宋体</vt:lpstr>
      <vt:lpstr>Wingdings</vt:lpstr>
      <vt:lpstr>微软雅黑</vt:lpstr>
      <vt:lpstr>Calibri</vt:lpstr>
      <vt:lpstr>Arial Unicode MS</vt:lpstr>
      <vt:lpstr>阿里巴巴普惠体 3.0 65 Medium</vt:lpstr>
      <vt:lpstr>阿里巴巴普惠体 3.0 55 Regular</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妖怪</cp:lastModifiedBy>
  <cp:revision>16</cp:revision>
  <dcterms:created xsi:type="dcterms:W3CDTF">2023-08-09T12:44:00Z</dcterms:created>
  <dcterms:modified xsi:type="dcterms:W3CDTF">2026-01-05T05:57:46Z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279DEA269C564EDC9171F3D231C34D5B_12</vt:lpwstr>
  </property>
</Properties>
</file>